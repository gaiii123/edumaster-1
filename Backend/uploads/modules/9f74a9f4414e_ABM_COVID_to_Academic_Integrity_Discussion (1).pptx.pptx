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Arial Bold" panose="020B0704020202020204" pitchFamily="34" charset="0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05.08.2026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0075" y="523875"/>
            <a:ext cx="8429625" cy="376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1">
                <a:solidFill>
                  <a:srgbClr val="3D8DFF"/>
                </a:solidFill>
                <a:latin typeface="Arial Bold"/>
                <a:ea typeface="Arial Bold"/>
                <a:cs typeface="Arial Bold"/>
                <a:sym typeface="Arial Bold"/>
              </a:rPr>
              <a:t>AGENT-BASED MODELLING · COMPLEX SYSTEMS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00075" y="2043113"/>
            <a:ext cx="9373464" cy="2543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10"/>
              </a:lnSpc>
            </a:pPr>
            <a:r>
              <a:rPr lang="en-US" sz="4175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COVID-ABS: An agent-based model of COVID-19 epidemic to simulate health and economic effects of social distancing interventions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0075" y="7882903"/>
            <a:ext cx="8801100" cy="1318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000" dirty="0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Presented by:</a:t>
            </a:r>
          </a:p>
          <a:p>
            <a:pPr algn="l">
              <a:lnSpc>
                <a:spcPts val="3450"/>
              </a:lnSpc>
            </a:pPr>
            <a:r>
              <a:rPr lang="en-US" sz="2000" dirty="0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IM/2021/108 - </a:t>
            </a:r>
            <a:r>
              <a:rPr lang="en-US" sz="2000" dirty="0" err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Miyulakshi</a:t>
            </a:r>
            <a:r>
              <a:rPr lang="en-US" sz="2000" dirty="0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000" dirty="0" err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Gunawardhana</a:t>
            </a:r>
            <a:endParaRPr lang="en-US" sz="2000" dirty="0">
              <a:solidFill>
                <a:srgbClr val="101828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l">
              <a:lnSpc>
                <a:spcPts val="3450"/>
              </a:lnSpc>
            </a:pPr>
            <a:r>
              <a:rPr lang="en-US" sz="2000" dirty="0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IM/2021/097 - Gayan </a:t>
            </a:r>
            <a:r>
              <a:rPr lang="en-US" sz="2000" dirty="0" err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Nagasinghe</a:t>
            </a:r>
            <a:endParaRPr lang="en-US" sz="2000" dirty="0">
              <a:solidFill>
                <a:srgbClr val="101828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00075" y="4786312"/>
            <a:ext cx="557212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 dirty="0">
                <a:solidFill>
                  <a:srgbClr val="5D6674"/>
                </a:solidFill>
                <a:latin typeface="Arial Bold"/>
                <a:ea typeface="Arial Bold"/>
                <a:cs typeface="Arial Bold"/>
                <a:sym typeface="Arial Bold"/>
              </a:rPr>
              <a:t>Based on Silva et al. (2020)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401175" y="571500"/>
            <a:ext cx="8315325" cy="8429625"/>
            <a:chOff x="0" y="0"/>
            <a:chExt cx="11087100" cy="112395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087100" cy="11239500"/>
            </a:xfrm>
            <a:custGeom>
              <a:avLst/>
              <a:gdLst/>
              <a:ahLst/>
              <a:cxnLst/>
              <a:rect l="l" t="t" r="r" b="b"/>
              <a:pathLst>
                <a:path w="11087100" h="11239500">
                  <a:moveTo>
                    <a:pt x="0" y="0"/>
                  </a:moveTo>
                  <a:lnTo>
                    <a:pt x="11087100" y="0"/>
                  </a:lnTo>
                  <a:lnTo>
                    <a:pt x="11087100" y="11239500"/>
                  </a:lnTo>
                  <a:lnTo>
                    <a:pt x="0" y="11239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3982" b="-23983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0075" y="690562"/>
            <a:ext cx="16573500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9"/>
              </a:lnSpc>
            </a:pPr>
            <a:r>
              <a:rPr lang="en-US" sz="5175" b="1" dirty="0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Which COVID policy would you choose?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887825" y="9491663"/>
            <a:ext cx="8001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575">
                <a:solidFill>
                  <a:srgbClr val="5D6674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0075" y="1981200"/>
            <a:ext cx="17804528" cy="1795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dirty="0">
                <a:solidFill>
                  <a:srgbClr val="5D6674"/>
                </a:solidFill>
                <a:latin typeface="Arial"/>
                <a:ea typeface="Arial"/>
                <a:cs typeface="Arial"/>
                <a:sym typeface="Arial"/>
              </a:rPr>
              <a:t>Imagine COVID is spreading in your country. Hospitals have limited capacity, but restrictions also affect businesses and the economy.</a:t>
            </a:r>
          </a:p>
          <a:p>
            <a:pPr algn="l">
              <a:lnSpc>
                <a:spcPts val="3510"/>
              </a:lnSpc>
            </a:pPr>
            <a:r>
              <a:rPr lang="en-US" sz="2925" dirty="0">
                <a:solidFill>
                  <a:srgbClr val="5D6674"/>
                </a:solidFill>
                <a:latin typeface="Arial"/>
                <a:ea typeface="Arial"/>
                <a:cs typeface="Arial"/>
                <a:sym typeface="Arial"/>
              </a:rPr>
              <a:t>Which policy would you choose?</a:t>
            </a:r>
          </a:p>
          <a:p>
            <a:pPr algn="l">
              <a:lnSpc>
                <a:spcPts val="3510"/>
              </a:lnSpc>
            </a:pPr>
            <a:endParaRPr lang="en-US" sz="2925" dirty="0">
              <a:solidFill>
                <a:srgbClr val="5D667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71492" y="3581440"/>
            <a:ext cx="16659228" cy="14247"/>
          </a:xfrm>
          <a:prstGeom prst="line">
            <a:avLst/>
          </a:prstGeom>
          <a:ln w="9525" cap="rnd">
            <a:solidFill>
              <a:srgbClr val="B8BCC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2457450" y="4029075"/>
            <a:ext cx="1085850" cy="1085850"/>
            <a:chOff x="0" y="0"/>
            <a:chExt cx="1447800" cy="1447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47800" cy="1447800"/>
            </a:xfrm>
            <a:custGeom>
              <a:avLst/>
              <a:gdLst/>
              <a:ahLst/>
              <a:cxnLst/>
              <a:rect l="l" t="t" r="r" b="b"/>
              <a:pathLst>
                <a:path w="1447800" h="1447800">
                  <a:moveTo>
                    <a:pt x="0" y="723900"/>
                  </a:moveTo>
                  <a:cubicBezTo>
                    <a:pt x="0" y="324104"/>
                    <a:pt x="324104" y="0"/>
                    <a:pt x="723900" y="0"/>
                  </a:cubicBezTo>
                  <a:cubicBezTo>
                    <a:pt x="1123696" y="0"/>
                    <a:pt x="1447800" y="324104"/>
                    <a:pt x="1447800" y="723900"/>
                  </a:cubicBezTo>
                  <a:cubicBezTo>
                    <a:pt x="1447800" y="1123696"/>
                    <a:pt x="1123696" y="1447800"/>
                    <a:pt x="723900" y="1447800"/>
                  </a:cubicBezTo>
                  <a:cubicBezTo>
                    <a:pt x="324104" y="1447800"/>
                    <a:pt x="0" y="1123696"/>
                    <a:pt x="0" y="723900"/>
                  </a:cubicBezTo>
                  <a:close/>
                </a:path>
              </a:pathLst>
            </a:custGeom>
            <a:solidFill>
              <a:srgbClr val="FBE5E2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447800" cy="1466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85"/>
                </a:lnSpc>
              </a:pPr>
              <a:r>
                <a:rPr lang="en-US" sz="3487" b="1">
                  <a:solidFill>
                    <a:srgbClr val="EF766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57250" y="5524500"/>
            <a:ext cx="4286250" cy="1319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3150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Protect only</a:t>
            </a:r>
          </a:p>
          <a:p>
            <a:pPr algn="ctr">
              <a:lnSpc>
                <a:spcPts val="3779"/>
              </a:lnSpc>
            </a:pPr>
            <a:r>
              <a:rPr lang="en-US" sz="3150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high-risk groups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201025" y="4029075"/>
            <a:ext cx="1085850" cy="1085850"/>
            <a:chOff x="0" y="0"/>
            <a:chExt cx="1447800" cy="1447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47800" cy="1447800"/>
            </a:xfrm>
            <a:custGeom>
              <a:avLst/>
              <a:gdLst/>
              <a:ahLst/>
              <a:cxnLst/>
              <a:rect l="l" t="t" r="r" b="b"/>
              <a:pathLst>
                <a:path w="1447800" h="1447800">
                  <a:moveTo>
                    <a:pt x="0" y="723900"/>
                  </a:moveTo>
                  <a:cubicBezTo>
                    <a:pt x="0" y="324104"/>
                    <a:pt x="324104" y="0"/>
                    <a:pt x="723900" y="0"/>
                  </a:cubicBezTo>
                  <a:cubicBezTo>
                    <a:pt x="1123696" y="0"/>
                    <a:pt x="1447800" y="324104"/>
                    <a:pt x="1447800" y="723900"/>
                  </a:cubicBezTo>
                  <a:cubicBezTo>
                    <a:pt x="1447800" y="1123696"/>
                    <a:pt x="1123696" y="1447800"/>
                    <a:pt x="723900" y="1447800"/>
                  </a:cubicBezTo>
                  <a:cubicBezTo>
                    <a:pt x="324104" y="1447800"/>
                    <a:pt x="0" y="1123696"/>
                    <a:pt x="0" y="723900"/>
                  </a:cubicBezTo>
                  <a:close/>
                </a:path>
              </a:pathLst>
            </a:custGeom>
            <a:solidFill>
              <a:srgbClr val="EAF5FB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1447800" cy="1466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85"/>
                </a:lnSpc>
              </a:pPr>
              <a:r>
                <a:rPr lang="en-US" sz="3487" b="1">
                  <a:solidFill>
                    <a:srgbClr val="3D8D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600825" y="5524500"/>
            <a:ext cx="4286250" cy="1319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3150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Full</a:t>
            </a:r>
          </a:p>
          <a:p>
            <a:pPr algn="ctr">
              <a:lnSpc>
                <a:spcPts val="3779"/>
              </a:lnSpc>
            </a:pPr>
            <a:r>
              <a:rPr lang="en-US" sz="3150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lockdown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3944600" y="4029075"/>
            <a:ext cx="1085850" cy="1085850"/>
            <a:chOff x="0" y="0"/>
            <a:chExt cx="1447800" cy="1447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47800" cy="1447800"/>
            </a:xfrm>
            <a:custGeom>
              <a:avLst/>
              <a:gdLst/>
              <a:ahLst/>
              <a:cxnLst/>
              <a:rect l="l" t="t" r="r" b="b"/>
              <a:pathLst>
                <a:path w="1447800" h="1447800">
                  <a:moveTo>
                    <a:pt x="0" y="723900"/>
                  </a:moveTo>
                  <a:cubicBezTo>
                    <a:pt x="0" y="324104"/>
                    <a:pt x="324104" y="0"/>
                    <a:pt x="723900" y="0"/>
                  </a:cubicBezTo>
                  <a:cubicBezTo>
                    <a:pt x="1123696" y="0"/>
                    <a:pt x="1447800" y="324104"/>
                    <a:pt x="1447800" y="723900"/>
                  </a:cubicBezTo>
                  <a:cubicBezTo>
                    <a:pt x="1447800" y="1123696"/>
                    <a:pt x="1123696" y="1447800"/>
                    <a:pt x="723900" y="1447800"/>
                  </a:cubicBezTo>
                  <a:cubicBezTo>
                    <a:pt x="324104" y="1447800"/>
                    <a:pt x="0" y="1123696"/>
                    <a:pt x="0" y="723900"/>
                  </a:cubicBezTo>
                  <a:close/>
                </a:path>
              </a:pathLst>
            </a:custGeom>
            <a:solidFill>
              <a:srgbClr val="E3F3EA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1447800" cy="1466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85"/>
                </a:lnSpc>
              </a:pPr>
              <a:r>
                <a:rPr lang="en-US" sz="3487" b="1">
                  <a:solidFill>
                    <a:srgbClr val="51A7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2344400" y="5524500"/>
            <a:ext cx="4286250" cy="1319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3150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Masks +</a:t>
            </a:r>
          </a:p>
          <a:p>
            <a:pPr algn="ctr">
              <a:lnSpc>
                <a:spcPts val="3779"/>
              </a:lnSpc>
            </a:pPr>
            <a:r>
              <a:rPr lang="en-US" sz="3150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50% isolation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600075" y="7929562"/>
            <a:ext cx="16630650" cy="1085850"/>
            <a:chOff x="0" y="0"/>
            <a:chExt cx="22174200" cy="1447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174200" cy="1447800"/>
            </a:xfrm>
            <a:custGeom>
              <a:avLst/>
              <a:gdLst/>
              <a:ahLst/>
              <a:cxnLst/>
              <a:rect l="l" t="t" r="r" b="b"/>
              <a:pathLst>
                <a:path w="22174200" h="1447800">
                  <a:moveTo>
                    <a:pt x="0" y="209550"/>
                  </a:moveTo>
                  <a:cubicBezTo>
                    <a:pt x="0" y="93853"/>
                    <a:pt x="93853" y="0"/>
                    <a:pt x="209550" y="0"/>
                  </a:cubicBezTo>
                  <a:lnTo>
                    <a:pt x="21964650" y="0"/>
                  </a:lnTo>
                  <a:cubicBezTo>
                    <a:pt x="22080347" y="0"/>
                    <a:pt x="22174200" y="93853"/>
                    <a:pt x="22174200" y="209550"/>
                  </a:cubicBezTo>
                  <a:lnTo>
                    <a:pt x="22174200" y="1238250"/>
                  </a:lnTo>
                  <a:cubicBezTo>
                    <a:pt x="22174200" y="1353947"/>
                    <a:pt x="22080347" y="1447800"/>
                    <a:pt x="21964650" y="1447800"/>
                  </a:cubicBezTo>
                  <a:lnTo>
                    <a:pt x="209550" y="1447800"/>
                  </a:lnTo>
                  <a:cubicBezTo>
                    <a:pt x="93853" y="1447800"/>
                    <a:pt x="0" y="1353947"/>
                    <a:pt x="0" y="123825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1000125" y="8224838"/>
            <a:ext cx="15859125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3D8DFF"/>
                </a:solidFill>
                <a:latin typeface="Arial Bold"/>
                <a:ea typeface="Arial Bold"/>
                <a:cs typeface="Arial Bold"/>
                <a:sym typeface="Arial Bold"/>
              </a:rPr>
              <a:t>Keep your answer. We will compare it with the model results.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0075" y="690562"/>
            <a:ext cx="16573500" cy="1109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9"/>
              </a:lnSpc>
            </a:pPr>
            <a:r>
              <a:rPr lang="en-US" sz="5175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ABM builds the big picture from small actions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887825" y="9491663"/>
            <a:ext cx="8001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575">
                <a:solidFill>
                  <a:srgbClr val="5D667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14450" y="2314575"/>
            <a:ext cx="714375" cy="814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1">
                <a:solidFill>
                  <a:srgbClr val="3D8DFF"/>
                </a:solidFill>
                <a:latin typeface="Arial Bold"/>
                <a:ea typeface="Arial Bold"/>
                <a:cs typeface="Arial Bold"/>
                <a:sym typeface="Arial Bold"/>
              </a:rPr>
              <a:t>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43138" y="2366962"/>
            <a:ext cx="4000500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Define agents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243138" y="2990850"/>
            <a:ext cx="4429125" cy="1081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>
                <a:solidFill>
                  <a:srgbClr val="5D6674"/>
                </a:solidFill>
                <a:latin typeface="Arial"/>
                <a:ea typeface="Arial"/>
                <a:cs typeface="Arial"/>
                <a:sym typeface="Arial"/>
              </a:rPr>
              <a:t>People, houses, firms, government and hospitals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143750" y="2314575"/>
            <a:ext cx="714375" cy="814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1">
                <a:solidFill>
                  <a:srgbClr val="3D8DFF"/>
                </a:solidFill>
                <a:latin typeface="Arial Bold"/>
                <a:ea typeface="Arial Bold"/>
                <a:cs typeface="Arial Bold"/>
                <a:sym typeface="Arial Bold"/>
              </a:rPr>
              <a:t>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072438" y="2366962"/>
            <a:ext cx="4143375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Give local rules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072438" y="2990850"/>
            <a:ext cx="4429125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>
                <a:solidFill>
                  <a:srgbClr val="5D6674"/>
                </a:solidFill>
                <a:latin typeface="Arial"/>
                <a:ea typeface="Arial"/>
                <a:cs typeface="Arial"/>
                <a:sym typeface="Arial"/>
              </a:rPr>
              <a:t>Move, meet, become infected, work, spend and pay tax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001625" y="2314575"/>
            <a:ext cx="714375" cy="814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1">
                <a:solidFill>
                  <a:srgbClr val="3D8DFF"/>
                </a:solidFill>
                <a:latin typeface="Arial Bold"/>
                <a:ea typeface="Arial Bold"/>
                <a:cs typeface="Arial Bold"/>
                <a:sym typeface="Arial Bold"/>
              </a:rPr>
              <a:t>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30312" y="2366962"/>
            <a:ext cx="3714750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Run many times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930312" y="2990850"/>
            <a:ext cx="3500438" cy="1081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>
                <a:solidFill>
                  <a:srgbClr val="5D6674"/>
                </a:solidFill>
                <a:latin typeface="Arial"/>
                <a:ea typeface="Arial"/>
                <a:cs typeface="Arial"/>
                <a:sym typeface="Arial"/>
              </a:rPr>
              <a:t>Observe patterns that were not written directly</a:t>
            </a:r>
          </a:p>
        </p:txBody>
      </p:sp>
      <p:sp>
        <p:nvSpPr>
          <p:cNvPr id="13" name="AutoShape 13"/>
          <p:cNvSpPr/>
          <p:nvPr/>
        </p:nvSpPr>
        <p:spPr>
          <a:xfrm rot="2940">
            <a:off x="592931" y="4638675"/>
            <a:ext cx="16659235" cy="0"/>
          </a:xfrm>
          <a:prstGeom prst="line">
            <a:avLst/>
          </a:prstGeom>
          <a:ln w="9525" cap="rnd">
            <a:solidFill>
              <a:srgbClr val="B8BCC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14"/>
          <p:cNvSpPr txBox="1"/>
          <p:nvPr/>
        </p:nvSpPr>
        <p:spPr>
          <a:xfrm>
            <a:off x="928688" y="5391150"/>
            <a:ext cx="257175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1">
                <a:solidFill>
                  <a:srgbClr val="5D6674"/>
                </a:solidFill>
                <a:latin typeface="Arial Bold"/>
                <a:ea typeface="Arial Bold"/>
                <a:cs typeface="Arial Bold"/>
                <a:sym typeface="Arial Bold"/>
              </a:rPr>
              <a:t>MICRO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00075" y="6000750"/>
            <a:ext cx="3314700" cy="1643062"/>
            <a:chOff x="0" y="0"/>
            <a:chExt cx="4419600" cy="21907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419600" cy="2190750"/>
            </a:xfrm>
            <a:custGeom>
              <a:avLst/>
              <a:gdLst/>
              <a:ahLst/>
              <a:cxnLst/>
              <a:rect l="l" t="t" r="r" b="b"/>
              <a:pathLst>
                <a:path w="4419600" h="219075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4191000" y="0"/>
                  </a:lnTo>
                  <a:cubicBezTo>
                    <a:pt x="4317238" y="0"/>
                    <a:pt x="4419600" y="102362"/>
                    <a:pt x="4419600" y="228600"/>
                  </a:cubicBezTo>
                  <a:lnTo>
                    <a:pt x="4419600" y="1962150"/>
                  </a:lnTo>
                  <a:cubicBezTo>
                    <a:pt x="4419600" y="2088388"/>
                    <a:pt x="4317238" y="2190750"/>
                    <a:pt x="4191000" y="2190750"/>
                  </a:cubicBezTo>
                  <a:lnTo>
                    <a:pt x="228600" y="2190750"/>
                  </a:lnTo>
                  <a:cubicBezTo>
                    <a:pt x="102362" y="2190750"/>
                    <a:pt x="0" y="2088388"/>
                    <a:pt x="0" y="1962150"/>
                  </a:cubicBezTo>
                  <a:close/>
                </a:path>
              </a:pathLst>
            </a:custGeom>
            <a:solidFill>
              <a:srgbClr val="EAF5FB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28688" y="6329362"/>
            <a:ext cx="2657475" cy="971550"/>
            <a:chOff x="0" y="0"/>
            <a:chExt cx="3543300" cy="1295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543300" cy="1295400"/>
            </a:xfrm>
            <a:custGeom>
              <a:avLst/>
              <a:gdLst/>
              <a:ahLst/>
              <a:cxnLst/>
              <a:rect l="l" t="t" r="r" b="b"/>
              <a:pathLst>
                <a:path w="3543300" h="1295400">
                  <a:moveTo>
                    <a:pt x="0" y="0"/>
                  </a:moveTo>
                  <a:lnTo>
                    <a:pt x="3543300" y="0"/>
                  </a:lnTo>
                  <a:lnTo>
                    <a:pt x="3543300" y="1295400"/>
                  </a:lnTo>
                  <a:lnTo>
                    <a:pt x="0" y="1295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97" b="-3297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3543300" cy="1304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93"/>
                </a:lnSpc>
              </a:pPr>
              <a:r>
                <a:rPr lang="en-US" sz="2494" b="1">
                  <a:solidFill>
                    <a:srgbClr val="10182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One agent</a:t>
              </a:r>
            </a:p>
            <a:p>
              <a:pPr algn="ctr">
                <a:lnSpc>
                  <a:spcPts val="2993"/>
                </a:lnSpc>
              </a:pPr>
              <a:r>
                <a:rPr lang="en-US" sz="2494" b="1">
                  <a:solidFill>
                    <a:srgbClr val="10182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uses simple rules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4786312" y="6496050"/>
            <a:ext cx="5572125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0"/>
              </a:lnSpc>
            </a:pPr>
            <a:r>
              <a:rPr lang="en-US" sz="2925" b="1">
                <a:solidFill>
                  <a:srgbClr val="3D8DFF"/>
                </a:solidFill>
                <a:latin typeface="Arial Bold"/>
                <a:ea typeface="Arial Bold"/>
                <a:cs typeface="Arial Bold"/>
                <a:sym typeface="Arial Bold"/>
              </a:rPr>
              <a:t>× many agents + time + chance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1172825" y="6000750"/>
            <a:ext cx="6072188" cy="1643062"/>
            <a:chOff x="0" y="0"/>
            <a:chExt cx="8096250" cy="219075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096250" cy="2190750"/>
            </a:xfrm>
            <a:custGeom>
              <a:avLst/>
              <a:gdLst/>
              <a:ahLst/>
              <a:cxnLst/>
              <a:rect l="l" t="t" r="r" b="b"/>
              <a:pathLst>
                <a:path w="8096250" h="219075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7867650" y="0"/>
                  </a:lnTo>
                  <a:cubicBezTo>
                    <a:pt x="7993888" y="0"/>
                    <a:pt x="8096250" y="102362"/>
                    <a:pt x="8096250" y="228600"/>
                  </a:cubicBezTo>
                  <a:lnTo>
                    <a:pt x="8096250" y="1962150"/>
                  </a:lnTo>
                  <a:cubicBezTo>
                    <a:pt x="8096250" y="2088388"/>
                    <a:pt x="7993888" y="2190750"/>
                    <a:pt x="7867650" y="2190750"/>
                  </a:cubicBezTo>
                  <a:lnTo>
                    <a:pt x="228600" y="2190750"/>
                  </a:lnTo>
                  <a:cubicBezTo>
                    <a:pt x="102362" y="2190750"/>
                    <a:pt x="0" y="2088388"/>
                    <a:pt x="0" y="1962150"/>
                  </a:cubicBezTo>
                  <a:close/>
                </a:path>
              </a:pathLst>
            </a:custGeom>
            <a:solidFill>
              <a:srgbClr val="E3F3EA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11601450" y="6300788"/>
            <a:ext cx="5214938" cy="1028700"/>
            <a:chOff x="0" y="0"/>
            <a:chExt cx="6953250" cy="13716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953250" cy="1371600"/>
            </a:xfrm>
            <a:custGeom>
              <a:avLst/>
              <a:gdLst/>
              <a:ahLst/>
              <a:cxnLst/>
              <a:rect l="l" t="t" r="r" b="b"/>
              <a:pathLst>
                <a:path w="6953250" h="1371600">
                  <a:moveTo>
                    <a:pt x="0" y="0"/>
                  </a:moveTo>
                  <a:lnTo>
                    <a:pt x="6953250" y="0"/>
                  </a:lnTo>
                  <a:lnTo>
                    <a:pt x="695325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778" b="-48778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6953250" cy="1390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45"/>
                </a:lnSpc>
              </a:pPr>
              <a:r>
                <a:rPr lang="en-US" sz="2620" b="1">
                  <a:solidFill>
                    <a:srgbClr val="51A7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MACRO</a:t>
              </a:r>
            </a:p>
            <a:p>
              <a:pPr algn="ctr">
                <a:lnSpc>
                  <a:spcPts val="3145"/>
                </a:lnSpc>
              </a:pPr>
              <a:r>
                <a:rPr lang="en-US" sz="2620" b="1">
                  <a:solidFill>
                    <a:srgbClr val="51A7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Epidemic and economic patterns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600075" y="8424862"/>
            <a:ext cx="16644938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5"/>
              </a:lnSpc>
            </a:pPr>
            <a:r>
              <a:rPr lang="en-US" sz="2812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This bottom-up result is called emergence.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00075" y="1654969"/>
            <a:ext cx="1657350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>
                <a:solidFill>
                  <a:srgbClr val="5D6674"/>
                </a:solidFill>
                <a:latin typeface="Arial"/>
                <a:ea typeface="Arial"/>
                <a:cs typeface="Arial"/>
                <a:sym typeface="Arial"/>
              </a:rPr>
              <a:t>Agent Based Modelling is a computer simulation where individual agents follow simple rules.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0075" y="690562"/>
            <a:ext cx="16573500" cy="1109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9"/>
              </a:lnSpc>
            </a:pPr>
            <a:r>
              <a:rPr lang="en-US" sz="5175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Why COVID is a complex system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887825" y="9491663"/>
            <a:ext cx="8001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575">
                <a:solidFill>
                  <a:srgbClr val="5D6674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00075" y="2157412"/>
            <a:ext cx="5214938" cy="2614612"/>
            <a:chOff x="0" y="0"/>
            <a:chExt cx="6953250" cy="34861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953250" cy="3486150"/>
            </a:xfrm>
            <a:custGeom>
              <a:avLst/>
              <a:gdLst/>
              <a:ahLst/>
              <a:cxnLst/>
              <a:rect l="l" t="t" r="r" b="b"/>
              <a:pathLst>
                <a:path w="6953250" h="3486150">
                  <a:moveTo>
                    <a:pt x="0" y="247650"/>
                  </a:moveTo>
                  <a:cubicBezTo>
                    <a:pt x="0" y="110871"/>
                    <a:pt x="110871" y="0"/>
                    <a:pt x="247650" y="0"/>
                  </a:cubicBezTo>
                  <a:lnTo>
                    <a:pt x="6705600" y="0"/>
                  </a:lnTo>
                  <a:cubicBezTo>
                    <a:pt x="6842379" y="0"/>
                    <a:pt x="6953250" y="110871"/>
                    <a:pt x="6953250" y="247650"/>
                  </a:cubicBezTo>
                  <a:lnTo>
                    <a:pt x="6953250" y="3238500"/>
                  </a:lnTo>
                  <a:cubicBezTo>
                    <a:pt x="6953250" y="3375279"/>
                    <a:pt x="6842379" y="3486150"/>
                    <a:pt x="6705600" y="3486150"/>
                  </a:cubicBezTo>
                  <a:lnTo>
                    <a:pt x="247650" y="3486150"/>
                  </a:lnTo>
                  <a:cubicBezTo>
                    <a:pt x="110871" y="3486150"/>
                    <a:pt x="0" y="3375279"/>
                    <a:pt x="0" y="3238500"/>
                  </a:cubicBezTo>
                  <a:close/>
                </a:path>
              </a:pathLst>
            </a:custGeom>
            <a:solidFill>
              <a:srgbClr val="EAF5FB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14400" y="2452688"/>
            <a:ext cx="4586288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3D8DFF"/>
                </a:solidFill>
                <a:latin typeface="Arial Bold"/>
                <a:ea typeface="Arial Bold"/>
                <a:cs typeface="Arial Bold"/>
                <a:sym typeface="Arial Bold"/>
              </a:rPr>
              <a:t>Different agents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3167062"/>
            <a:ext cx="4586288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2025">
                <a:solidFill>
                  <a:srgbClr val="5D6674"/>
                </a:solidFill>
                <a:latin typeface="Arial"/>
                <a:ea typeface="Arial"/>
                <a:cs typeface="Arial"/>
                <a:sym typeface="Arial"/>
              </a:rPr>
              <a:t>Age, health, income and movement are not the same.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6272212" y="2157412"/>
            <a:ext cx="5214938" cy="2614612"/>
            <a:chOff x="0" y="0"/>
            <a:chExt cx="6953250" cy="34861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53250" cy="3486150"/>
            </a:xfrm>
            <a:custGeom>
              <a:avLst/>
              <a:gdLst/>
              <a:ahLst/>
              <a:cxnLst/>
              <a:rect l="l" t="t" r="r" b="b"/>
              <a:pathLst>
                <a:path w="6953250" h="3486150">
                  <a:moveTo>
                    <a:pt x="0" y="247650"/>
                  </a:moveTo>
                  <a:cubicBezTo>
                    <a:pt x="0" y="110871"/>
                    <a:pt x="110871" y="0"/>
                    <a:pt x="247650" y="0"/>
                  </a:cubicBezTo>
                  <a:lnTo>
                    <a:pt x="6705600" y="0"/>
                  </a:lnTo>
                  <a:cubicBezTo>
                    <a:pt x="6842379" y="0"/>
                    <a:pt x="6953250" y="110871"/>
                    <a:pt x="6953250" y="247650"/>
                  </a:cubicBezTo>
                  <a:lnTo>
                    <a:pt x="6953250" y="3238500"/>
                  </a:lnTo>
                  <a:cubicBezTo>
                    <a:pt x="6953250" y="3375279"/>
                    <a:pt x="6842379" y="3486150"/>
                    <a:pt x="6705600" y="3486150"/>
                  </a:cubicBezTo>
                  <a:lnTo>
                    <a:pt x="247650" y="3486150"/>
                  </a:lnTo>
                  <a:cubicBezTo>
                    <a:pt x="110871" y="3486150"/>
                    <a:pt x="0" y="3375279"/>
                    <a:pt x="0" y="3238500"/>
                  </a:cubicBezTo>
                  <a:close/>
                </a:path>
              </a:pathLst>
            </a:custGeom>
            <a:solidFill>
              <a:srgbClr val="E3F3EA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6586538" y="2452688"/>
            <a:ext cx="4586288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51A77A"/>
                </a:solidFill>
                <a:latin typeface="Arial Bold"/>
                <a:ea typeface="Arial Bold"/>
                <a:cs typeface="Arial Bold"/>
                <a:sym typeface="Arial Bold"/>
              </a:rPr>
              <a:t>Local interaction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86538" y="3167062"/>
            <a:ext cx="4586288" cy="635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2025">
                <a:solidFill>
                  <a:srgbClr val="5D6674"/>
                </a:solidFill>
                <a:latin typeface="Arial"/>
                <a:ea typeface="Arial"/>
                <a:cs typeface="Arial"/>
                <a:sym typeface="Arial"/>
              </a:rPr>
              <a:t>Infection happens through close contact in nearby people.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1944350" y="2157412"/>
            <a:ext cx="5214938" cy="2614612"/>
            <a:chOff x="0" y="0"/>
            <a:chExt cx="6953250" cy="34861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953250" cy="3486150"/>
            </a:xfrm>
            <a:custGeom>
              <a:avLst/>
              <a:gdLst/>
              <a:ahLst/>
              <a:cxnLst/>
              <a:rect l="l" t="t" r="r" b="b"/>
              <a:pathLst>
                <a:path w="6953250" h="3486150">
                  <a:moveTo>
                    <a:pt x="0" y="247650"/>
                  </a:moveTo>
                  <a:cubicBezTo>
                    <a:pt x="0" y="110871"/>
                    <a:pt x="110871" y="0"/>
                    <a:pt x="247650" y="0"/>
                  </a:cubicBezTo>
                  <a:lnTo>
                    <a:pt x="6705600" y="0"/>
                  </a:lnTo>
                  <a:cubicBezTo>
                    <a:pt x="6842379" y="0"/>
                    <a:pt x="6953250" y="110871"/>
                    <a:pt x="6953250" y="247650"/>
                  </a:cubicBezTo>
                  <a:lnTo>
                    <a:pt x="6953250" y="3238500"/>
                  </a:lnTo>
                  <a:cubicBezTo>
                    <a:pt x="6953250" y="3375279"/>
                    <a:pt x="6842379" y="3486150"/>
                    <a:pt x="6705600" y="3486150"/>
                  </a:cubicBezTo>
                  <a:lnTo>
                    <a:pt x="247650" y="3486150"/>
                  </a:lnTo>
                  <a:cubicBezTo>
                    <a:pt x="110871" y="3486150"/>
                    <a:pt x="0" y="3375279"/>
                    <a:pt x="0" y="3238500"/>
                  </a:cubicBezTo>
                  <a:close/>
                </a:path>
              </a:pathLst>
            </a:custGeom>
            <a:solidFill>
              <a:srgbClr val="F1ECFA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12258675" y="2452688"/>
            <a:ext cx="4586288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8C6FD1"/>
                </a:solidFill>
                <a:latin typeface="Arial Bold"/>
                <a:ea typeface="Arial Bold"/>
                <a:cs typeface="Arial Bold"/>
                <a:sym typeface="Arial Bold"/>
              </a:rPr>
              <a:t>Emergence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258675" y="3167062"/>
            <a:ext cx="4586288" cy="949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2025">
                <a:solidFill>
                  <a:srgbClr val="5D6674"/>
                </a:solidFill>
                <a:latin typeface="Arial"/>
                <a:ea typeface="Arial"/>
                <a:cs typeface="Arial"/>
                <a:sym typeface="Arial"/>
              </a:rPr>
              <a:t>The pandemic emerges from thousands of individual interactions rather than one central controller.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00075" y="5272088"/>
            <a:ext cx="5214938" cy="2614612"/>
            <a:chOff x="0" y="0"/>
            <a:chExt cx="6953250" cy="34861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953250" cy="3486150"/>
            </a:xfrm>
            <a:custGeom>
              <a:avLst/>
              <a:gdLst/>
              <a:ahLst/>
              <a:cxnLst/>
              <a:rect l="l" t="t" r="r" b="b"/>
              <a:pathLst>
                <a:path w="6953250" h="3486150">
                  <a:moveTo>
                    <a:pt x="0" y="247650"/>
                  </a:moveTo>
                  <a:cubicBezTo>
                    <a:pt x="0" y="110871"/>
                    <a:pt x="110871" y="0"/>
                    <a:pt x="247650" y="0"/>
                  </a:cubicBezTo>
                  <a:lnTo>
                    <a:pt x="6705600" y="0"/>
                  </a:lnTo>
                  <a:cubicBezTo>
                    <a:pt x="6842379" y="0"/>
                    <a:pt x="6953250" y="110871"/>
                    <a:pt x="6953250" y="247650"/>
                  </a:cubicBezTo>
                  <a:lnTo>
                    <a:pt x="6953250" y="3238500"/>
                  </a:lnTo>
                  <a:cubicBezTo>
                    <a:pt x="6953250" y="3375279"/>
                    <a:pt x="6842379" y="3486150"/>
                    <a:pt x="6705600" y="3486150"/>
                  </a:cubicBezTo>
                  <a:lnTo>
                    <a:pt x="247650" y="3486150"/>
                  </a:lnTo>
                  <a:cubicBezTo>
                    <a:pt x="110871" y="3486150"/>
                    <a:pt x="0" y="3375279"/>
                    <a:pt x="0" y="3238500"/>
                  </a:cubicBezTo>
                  <a:close/>
                </a:path>
              </a:pathLst>
            </a:custGeom>
            <a:solidFill>
              <a:srgbClr val="FFF4D8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914400" y="5567362"/>
            <a:ext cx="4586288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Non-linearity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14400" y="6281738"/>
            <a:ext cx="4586288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2025">
                <a:solidFill>
                  <a:srgbClr val="5D6674"/>
                </a:solidFill>
                <a:latin typeface="Arial"/>
                <a:ea typeface="Arial"/>
                <a:cs typeface="Arial"/>
                <a:sym typeface="Arial"/>
              </a:rPr>
              <a:t>A small rule change can create a large system change.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6272212" y="5272088"/>
            <a:ext cx="5214938" cy="2614612"/>
            <a:chOff x="0" y="0"/>
            <a:chExt cx="6953250" cy="348615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953250" cy="3486150"/>
            </a:xfrm>
            <a:custGeom>
              <a:avLst/>
              <a:gdLst/>
              <a:ahLst/>
              <a:cxnLst/>
              <a:rect l="l" t="t" r="r" b="b"/>
              <a:pathLst>
                <a:path w="6953250" h="3486150">
                  <a:moveTo>
                    <a:pt x="0" y="247650"/>
                  </a:moveTo>
                  <a:cubicBezTo>
                    <a:pt x="0" y="110871"/>
                    <a:pt x="110871" y="0"/>
                    <a:pt x="247650" y="0"/>
                  </a:cubicBezTo>
                  <a:lnTo>
                    <a:pt x="6705600" y="0"/>
                  </a:lnTo>
                  <a:cubicBezTo>
                    <a:pt x="6842379" y="0"/>
                    <a:pt x="6953250" y="110871"/>
                    <a:pt x="6953250" y="247650"/>
                  </a:cubicBezTo>
                  <a:lnTo>
                    <a:pt x="6953250" y="3238500"/>
                  </a:lnTo>
                  <a:cubicBezTo>
                    <a:pt x="6953250" y="3375279"/>
                    <a:pt x="6842379" y="3486150"/>
                    <a:pt x="6705600" y="3486150"/>
                  </a:cubicBezTo>
                  <a:lnTo>
                    <a:pt x="247650" y="3486150"/>
                  </a:lnTo>
                  <a:cubicBezTo>
                    <a:pt x="110871" y="3486150"/>
                    <a:pt x="0" y="3375279"/>
                    <a:pt x="0" y="3238500"/>
                  </a:cubicBezTo>
                  <a:close/>
                </a:path>
              </a:pathLst>
            </a:custGeom>
            <a:solidFill>
              <a:srgbClr val="FBE5E2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6586538" y="5567362"/>
            <a:ext cx="4586288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EF766B"/>
                </a:solidFill>
                <a:latin typeface="Arial Bold"/>
                <a:ea typeface="Arial Bold"/>
                <a:cs typeface="Arial Bold"/>
                <a:sym typeface="Arial Bold"/>
              </a:rPr>
              <a:t>Feedback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586538" y="6281738"/>
            <a:ext cx="4586288" cy="949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2025">
                <a:solidFill>
                  <a:srgbClr val="5D6674"/>
                </a:solidFill>
                <a:latin typeface="Arial"/>
                <a:ea typeface="Arial"/>
                <a:cs typeface="Arial"/>
                <a:sym typeface="Arial"/>
              </a:rPr>
              <a:t>More cases create more hospital cost and policy response, which then affects people's behaviour.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1944350" y="5272088"/>
            <a:ext cx="5214938" cy="2614612"/>
            <a:chOff x="0" y="0"/>
            <a:chExt cx="6953250" cy="348615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953250" cy="3486150"/>
            </a:xfrm>
            <a:custGeom>
              <a:avLst/>
              <a:gdLst/>
              <a:ahLst/>
              <a:cxnLst/>
              <a:rect l="l" t="t" r="r" b="b"/>
              <a:pathLst>
                <a:path w="6953250" h="3486150">
                  <a:moveTo>
                    <a:pt x="0" y="247650"/>
                  </a:moveTo>
                  <a:cubicBezTo>
                    <a:pt x="0" y="110871"/>
                    <a:pt x="110871" y="0"/>
                    <a:pt x="247650" y="0"/>
                  </a:cubicBezTo>
                  <a:lnTo>
                    <a:pt x="6705600" y="0"/>
                  </a:lnTo>
                  <a:cubicBezTo>
                    <a:pt x="6842379" y="0"/>
                    <a:pt x="6953250" y="110871"/>
                    <a:pt x="6953250" y="247650"/>
                  </a:cubicBezTo>
                  <a:lnTo>
                    <a:pt x="6953250" y="3238500"/>
                  </a:lnTo>
                  <a:cubicBezTo>
                    <a:pt x="6953250" y="3375279"/>
                    <a:pt x="6842379" y="3486150"/>
                    <a:pt x="6705600" y="3486150"/>
                  </a:cubicBezTo>
                  <a:lnTo>
                    <a:pt x="247650" y="3486150"/>
                  </a:lnTo>
                  <a:cubicBezTo>
                    <a:pt x="110871" y="3486150"/>
                    <a:pt x="0" y="3375279"/>
                    <a:pt x="0" y="323850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12258675" y="5567362"/>
            <a:ext cx="4586288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Path + chance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258675" y="6281738"/>
            <a:ext cx="4586288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2025">
                <a:solidFill>
                  <a:srgbClr val="5D6674"/>
                </a:solidFill>
                <a:latin typeface="Arial"/>
                <a:ea typeface="Arial"/>
                <a:cs typeface="Arial"/>
                <a:sym typeface="Arial"/>
              </a:rPr>
              <a:t>Early random contacts change later outcomes.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00075" y="8648700"/>
            <a:ext cx="16644938" cy="509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475" b="1">
                <a:solidFill>
                  <a:srgbClr val="EF766B"/>
                </a:solidFill>
                <a:latin typeface="Arial Bold"/>
                <a:ea typeface="Arial Bold"/>
                <a:cs typeface="Arial Bold"/>
                <a:sym typeface="Arial Bold"/>
              </a:rPr>
              <a:t>Adaptation is limited: agents change state, but they do not learn new behaviour.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0075" y="690562"/>
            <a:ext cx="16573500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9"/>
              </a:lnSpc>
            </a:pPr>
            <a:r>
              <a:rPr lang="en-US" sz="5175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Research Design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887825" y="9491663"/>
            <a:ext cx="8001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575">
                <a:solidFill>
                  <a:srgbClr val="5D6674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0075" y="2119313"/>
            <a:ext cx="3714750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1">
                <a:solidFill>
                  <a:srgbClr val="3D8DFF"/>
                </a:solidFill>
                <a:latin typeface="Arial Bold"/>
                <a:ea typeface="Arial Bold"/>
                <a:cs typeface="Arial Bold"/>
                <a:sym typeface="Arial Bold"/>
              </a:rPr>
              <a:t>Main question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0075" y="2795588"/>
            <a:ext cx="7786688" cy="213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How do social-distancing policies change both health and economic outcomes?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286875" y="2071688"/>
            <a:ext cx="7929562" cy="3143250"/>
            <a:chOff x="0" y="0"/>
            <a:chExt cx="10572750" cy="4191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572750" cy="4191000"/>
            </a:xfrm>
            <a:custGeom>
              <a:avLst/>
              <a:gdLst/>
              <a:ahLst/>
              <a:cxnLst/>
              <a:rect l="l" t="t" r="r" b="b"/>
              <a:pathLst>
                <a:path w="10572750" h="4191000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lnTo>
                    <a:pt x="10306050" y="0"/>
                  </a:lnTo>
                  <a:cubicBezTo>
                    <a:pt x="10453370" y="0"/>
                    <a:pt x="10572750" y="119380"/>
                    <a:pt x="10572750" y="266700"/>
                  </a:cubicBezTo>
                  <a:lnTo>
                    <a:pt x="10572750" y="3924300"/>
                  </a:lnTo>
                  <a:cubicBezTo>
                    <a:pt x="10572750" y="4071620"/>
                    <a:pt x="10453370" y="4191000"/>
                    <a:pt x="10306050" y="4191000"/>
                  </a:cubicBezTo>
                  <a:lnTo>
                    <a:pt x="266700" y="4191000"/>
                  </a:lnTo>
                  <a:cubicBezTo>
                    <a:pt x="119380" y="4191000"/>
                    <a:pt x="0" y="4071620"/>
                    <a:pt x="0" y="3924300"/>
                  </a:cubicBezTo>
                  <a:close/>
                </a:path>
              </a:pathLst>
            </a:custGeom>
            <a:solidFill>
              <a:srgbClr val="EAF5FB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9686925" y="2433637"/>
            <a:ext cx="3000375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1">
                <a:solidFill>
                  <a:srgbClr val="3D8DFF"/>
                </a:solidFill>
                <a:latin typeface="Arial Bold"/>
                <a:ea typeface="Arial Bold"/>
                <a:cs typeface="Arial Bold"/>
                <a:sym typeface="Arial Bold"/>
              </a:rPr>
              <a:t>Virtual world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686925" y="3100387"/>
            <a:ext cx="6429375" cy="1828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271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300 people</a:t>
            </a:r>
          </a:p>
          <a:p>
            <a:pPr algn="l">
              <a:lnSpc>
                <a:spcPts val="2834"/>
              </a:lnSpc>
            </a:pPr>
            <a:r>
              <a:rPr lang="en-US" sz="2271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500 × 500 space</a:t>
            </a:r>
          </a:p>
          <a:p>
            <a:pPr algn="l">
              <a:lnSpc>
                <a:spcPts val="2834"/>
              </a:lnSpc>
            </a:pPr>
            <a:r>
              <a:rPr lang="en-US" sz="2271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1 hour per step</a:t>
            </a:r>
          </a:p>
          <a:p>
            <a:pPr algn="l">
              <a:lnSpc>
                <a:spcPts val="2834"/>
              </a:lnSpc>
            </a:pPr>
            <a:r>
              <a:rPr lang="en-US" sz="2271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60 days</a:t>
            </a:r>
          </a:p>
          <a:p>
            <a:pPr algn="l">
              <a:lnSpc>
                <a:spcPts val="2834"/>
              </a:lnSpc>
            </a:pPr>
            <a:r>
              <a:rPr lang="en-US" sz="2271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35 runs for each scenario</a:t>
            </a:r>
          </a:p>
        </p:txBody>
      </p:sp>
      <p:sp>
        <p:nvSpPr>
          <p:cNvPr id="10" name="AutoShape 10"/>
          <p:cNvSpPr/>
          <p:nvPr/>
        </p:nvSpPr>
        <p:spPr>
          <a:xfrm rot="2940">
            <a:off x="592931" y="5838825"/>
            <a:ext cx="16659235" cy="0"/>
          </a:xfrm>
          <a:prstGeom prst="line">
            <a:avLst/>
          </a:prstGeom>
          <a:ln w="9525" cap="rnd">
            <a:solidFill>
              <a:srgbClr val="B8BCC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600075" y="6381750"/>
            <a:ext cx="10001250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3037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Why ABM instead of only an average equation model?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00075" y="7196138"/>
            <a:ext cx="15859125" cy="2069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</a:pPr>
            <a:r>
              <a:rPr lang="en-US" sz="2250" dirty="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Who meets whom matters. People have different homes, jobs, ages and wealth.</a:t>
            </a:r>
          </a:p>
          <a:p>
            <a:pPr algn="l">
              <a:lnSpc>
                <a:spcPts val="2754"/>
              </a:lnSpc>
            </a:pPr>
            <a:r>
              <a:rPr lang="en-US" sz="2250" dirty="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Where and when matters. Contact changes with work, leisure and isolation.</a:t>
            </a:r>
          </a:p>
          <a:p>
            <a:pPr algn="l">
              <a:lnSpc>
                <a:spcPts val="2754"/>
              </a:lnSpc>
            </a:pPr>
            <a:r>
              <a:rPr lang="en-US" sz="2250" dirty="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Policy changes rules. The model can directly change movement and contact probability.</a:t>
            </a:r>
          </a:p>
          <a:p>
            <a:pPr algn="l">
              <a:lnSpc>
                <a:spcPts val="2754"/>
              </a:lnSpc>
            </a:pPr>
            <a:r>
              <a:rPr lang="en-US" sz="2250" dirty="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All these are difficult to represent using only traditional mathematical equations.</a:t>
            </a:r>
          </a:p>
          <a:p>
            <a:pPr algn="l">
              <a:lnSpc>
                <a:spcPts val="2754"/>
              </a:lnSpc>
            </a:pPr>
            <a:endParaRPr lang="en-US" sz="2250" dirty="0">
              <a:solidFill>
                <a:srgbClr val="101828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2754"/>
              </a:lnSpc>
            </a:pPr>
            <a:r>
              <a:rPr lang="en-US" sz="2250" dirty="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ABM allows researchers to compare different policies before applying them in the real world.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0075" y="347663"/>
            <a:ext cx="1000125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1">
                <a:solidFill>
                  <a:srgbClr val="3D8DFF"/>
                </a:solidFill>
                <a:latin typeface="Arial Bold"/>
                <a:ea typeface="Arial Bold"/>
                <a:cs typeface="Arial Bold"/>
                <a:sym typeface="Arial Bold"/>
              </a:rPr>
              <a:t>AGENT ARCHITECTURE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00075" y="690562"/>
            <a:ext cx="16573500" cy="1109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9"/>
              </a:lnSpc>
            </a:pPr>
            <a:r>
              <a:rPr lang="en-US" sz="5175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Five agent types create one connected society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887825" y="9491663"/>
            <a:ext cx="8001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575">
                <a:solidFill>
                  <a:srgbClr val="5D6674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</a:p>
        </p:txBody>
      </p:sp>
      <p:sp>
        <p:nvSpPr>
          <p:cNvPr id="5" name="AutoShape 5"/>
          <p:cNvSpPr/>
          <p:nvPr/>
        </p:nvSpPr>
        <p:spPr>
          <a:xfrm rot="2310060">
            <a:off x="5653078" y="3683794"/>
            <a:ext cx="2409844" cy="0"/>
          </a:xfrm>
          <a:prstGeom prst="line">
            <a:avLst/>
          </a:prstGeom>
          <a:ln w="19050" cap="rnd">
            <a:solidFill>
              <a:srgbClr val="B8BCC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rot="-2310060">
            <a:off x="10225078" y="3683794"/>
            <a:ext cx="2409844" cy="0"/>
          </a:xfrm>
          <a:prstGeom prst="line">
            <a:avLst/>
          </a:prstGeom>
          <a:ln w="19050" cap="rnd">
            <a:solidFill>
              <a:srgbClr val="B8BCC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rot="-2372880">
            <a:off x="5635085" y="6541294"/>
            <a:ext cx="2445839" cy="0"/>
          </a:xfrm>
          <a:prstGeom prst="line">
            <a:avLst/>
          </a:prstGeom>
          <a:ln w="19050" cap="rnd">
            <a:solidFill>
              <a:srgbClr val="B8BCC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 rot="2372880">
            <a:off x="10207085" y="6541294"/>
            <a:ext cx="2445839" cy="0"/>
          </a:xfrm>
          <a:prstGeom prst="line">
            <a:avLst/>
          </a:prstGeom>
          <a:ln w="19050" cap="rnd">
            <a:solidFill>
              <a:srgbClr val="B8BCC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7786688" y="3786188"/>
            <a:ext cx="2714625" cy="2714625"/>
            <a:chOff x="0" y="0"/>
            <a:chExt cx="3619500" cy="36195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619500" cy="3619500"/>
            </a:xfrm>
            <a:custGeom>
              <a:avLst/>
              <a:gdLst/>
              <a:ahLst/>
              <a:cxnLst/>
              <a:rect l="l" t="t" r="r" b="b"/>
              <a:pathLst>
                <a:path w="3619500" h="3619500">
                  <a:moveTo>
                    <a:pt x="0" y="1809750"/>
                  </a:moveTo>
                  <a:cubicBezTo>
                    <a:pt x="0" y="810260"/>
                    <a:pt x="810260" y="0"/>
                    <a:pt x="1809750" y="0"/>
                  </a:cubicBezTo>
                  <a:cubicBezTo>
                    <a:pt x="2809240" y="0"/>
                    <a:pt x="3619500" y="810260"/>
                    <a:pt x="3619500" y="1809750"/>
                  </a:cubicBezTo>
                  <a:cubicBezTo>
                    <a:pt x="3619500" y="2809240"/>
                    <a:pt x="2809240" y="3619500"/>
                    <a:pt x="1809750" y="3619500"/>
                  </a:cubicBezTo>
                  <a:cubicBezTo>
                    <a:pt x="810260" y="3619500"/>
                    <a:pt x="0" y="2809240"/>
                    <a:pt x="0" y="1809750"/>
                  </a:cubicBezTo>
                  <a:close/>
                </a:path>
              </a:pathLst>
            </a:custGeom>
            <a:solidFill>
              <a:srgbClr val="EAF5FB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3619500" cy="3638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4"/>
                </a:lnSpc>
              </a:pPr>
              <a:r>
                <a:rPr lang="en-US" sz="3037" b="1">
                  <a:solidFill>
                    <a:srgbClr val="3D8D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A1</a:t>
              </a:r>
            </a:p>
            <a:p>
              <a:pPr algn="ctr">
                <a:lnSpc>
                  <a:spcPts val="3644"/>
                </a:lnSpc>
              </a:pPr>
              <a:r>
                <a:rPr lang="en-US" sz="3037" b="1">
                  <a:solidFill>
                    <a:srgbClr val="3D8D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PERSON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93044" y="2064544"/>
            <a:ext cx="4443412" cy="1800225"/>
            <a:chOff x="0" y="0"/>
            <a:chExt cx="5924550" cy="24003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924550" cy="2400300"/>
            </a:xfrm>
            <a:custGeom>
              <a:avLst/>
              <a:gdLst/>
              <a:ahLst/>
              <a:cxnLst/>
              <a:rect l="l" t="t" r="r" b="b"/>
              <a:pathLst>
                <a:path w="5924550" h="2400300">
                  <a:moveTo>
                    <a:pt x="0" y="230378"/>
                  </a:moveTo>
                  <a:cubicBezTo>
                    <a:pt x="0" y="103124"/>
                    <a:pt x="103124" y="0"/>
                    <a:pt x="230378" y="0"/>
                  </a:cubicBezTo>
                  <a:lnTo>
                    <a:pt x="5694172" y="0"/>
                  </a:lnTo>
                  <a:cubicBezTo>
                    <a:pt x="5821426" y="0"/>
                    <a:pt x="5924550" y="103124"/>
                    <a:pt x="5924550" y="230378"/>
                  </a:cubicBezTo>
                  <a:lnTo>
                    <a:pt x="5924550" y="2169922"/>
                  </a:lnTo>
                  <a:cubicBezTo>
                    <a:pt x="5924550" y="2297176"/>
                    <a:pt x="5821426" y="2400300"/>
                    <a:pt x="5694172" y="2400300"/>
                  </a:cubicBezTo>
                  <a:lnTo>
                    <a:pt x="230378" y="2400300"/>
                  </a:lnTo>
                  <a:cubicBezTo>
                    <a:pt x="103124" y="2400300"/>
                    <a:pt x="0" y="2297176"/>
                    <a:pt x="0" y="216992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B8BCC4"/>
              </a:solidFill>
              <a:prstDash val="solid"/>
              <a:miter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1728788" y="2252662"/>
            <a:ext cx="3971925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A2 · House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28788" y="2767012"/>
            <a:ext cx="3971925" cy="919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3"/>
              </a:lnSpc>
            </a:pPr>
            <a:r>
              <a:rPr lang="en-US" sz="1912">
                <a:solidFill>
                  <a:srgbClr val="5D6674"/>
                </a:solidFill>
                <a:latin typeface="Arial"/>
                <a:ea typeface="Arial"/>
                <a:cs typeface="Arial"/>
                <a:sym typeface="Arial"/>
              </a:rPr>
              <a:t>Family, shared money and household expenses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351544" y="2064544"/>
            <a:ext cx="4443412" cy="1800225"/>
            <a:chOff x="0" y="0"/>
            <a:chExt cx="5924550" cy="24003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924550" cy="2400300"/>
            </a:xfrm>
            <a:custGeom>
              <a:avLst/>
              <a:gdLst/>
              <a:ahLst/>
              <a:cxnLst/>
              <a:rect l="l" t="t" r="r" b="b"/>
              <a:pathLst>
                <a:path w="5924550" h="2400300">
                  <a:moveTo>
                    <a:pt x="0" y="230378"/>
                  </a:moveTo>
                  <a:cubicBezTo>
                    <a:pt x="0" y="103124"/>
                    <a:pt x="103124" y="0"/>
                    <a:pt x="230378" y="0"/>
                  </a:cubicBezTo>
                  <a:lnTo>
                    <a:pt x="5694172" y="0"/>
                  </a:lnTo>
                  <a:cubicBezTo>
                    <a:pt x="5821426" y="0"/>
                    <a:pt x="5924550" y="103124"/>
                    <a:pt x="5924550" y="230378"/>
                  </a:cubicBezTo>
                  <a:lnTo>
                    <a:pt x="5924550" y="2169922"/>
                  </a:lnTo>
                  <a:cubicBezTo>
                    <a:pt x="5924550" y="2297176"/>
                    <a:pt x="5821426" y="2400300"/>
                    <a:pt x="5694172" y="2400300"/>
                  </a:cubicBezTo>
                  <a:lnTo>
                    <a:pt x="230378" y="2400300"/>
                  </a:lnTo>
                  <a:cubicBezTo>
                    <a:pt x="103124" y="2400300"/>
                    <a:pt x="0" y="2297176"/>
                    <a:pt x="0" y="216992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B8BCC4"/>
              </a:solidFill>
              <a:prstDash val="solid"/>
              <a:miter/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12587288" y="2252662"/>
            <a:ext cx="3971925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A3 · Business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587288" y="2767012"/>
            <a:ext cx="3971925" cy="919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3"/>
              </a:lnSpc>
            </a:pPr>
            <a:r>
              <a:rPr lang="en-US" sz="1912">
                <a:solidFill>
                  <a:srgbClr val="5D6674"/>
                </a:solidFill>
                <a:latin typeface="Arial"/>
                <a:ea typeface="Arial"/>
                <a:cs typeface="Arial"/>
                <a:sym typeface="Arial"/>
              </a:rPr>
              <a:t>Work, salary, sales, tax and operating cost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493044" y="6422231"/>
            <a:ext cx="4443412" cy="1800225"/>
            <a:chOff x="0" y="0"/>
            <a:chExt cx="5924550" cy="24003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924550" cy="2400300"/>
            </a:xfrm>
            <a:custGeom>
              <a:avLst/>
              <a:gdLst/>
              <a:ahLst/>
              <a:cxnLst/>
              <a:rect l="l" t="t" r="r" b="b"/>
              <a:pathLst>
                <a:path w="5924550" h="2400300">
                  <a:moveTo>
                    <a:pt x="0" y="230378"/>
                  </a:moveTo>
                  <a:cubicBezTo>
                    <a:pt x="0" y="103124"/>
                    <a:pt x="103124" y="0"/>
                    <a:pt x="230378" y="0"/>
                  </a:cubicBezTo>
                  <a:lnTo>
                    <a:pt x="5694172" y="0"/>
                  </a:lnTo>
                  <a:cubicBezTo>
                    <a:pt x="5821426" y="0"/>
                    <a:pt x="5924550" y="103124"/>
                    <a:pt x="5924550" y="230378"/>
                  </a:cubicBezTo>
                  <a:lnTo>
                    <a:pt x="5924550" y="2169922"/>
                  </a:lnTo>
                  <a:cubicBezTo>
                    <a:pt x="5924550" y="2297176"/>
                    <a:pt x="5821426" y="2400300"/>
                    <a:pt x="5694172" y="2400300"/>
                  </a:cubicBezTo>
                  <a:lnTo>
                    <a:pt x="230378" y="2400300"/>
                  </a:lnTo>
                  <a:cubicBezTo>
                    <a:pt x="103124" y="2400300"/>
                    <a:pt x="0" y="2297176"/>
                    <a:pt x="0" y="216992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B8BCC4"/>
              </a:solidFill>
              <a:prstDash val="solid"/>
              <a:miter/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1728788" y="6610350"/>
            <a:ext cx="3971925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A4 · Government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28788" y="7124700"/>
            <a:ext cx="3971925" cy="919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3"/>
              </a:lnSpc>
            </a:pPr>
            <a:r>
              <a:rPr lang="en-US" sz="1912">
                <a:solidFill>
                  <a:srgbClr val="5D6674"/>
                </a:solidFill>
                <a:latin typeface="Arial"/>
                <a:ea typeface="Arial"/>
                <a:cs typeface="Arial"/>
                <a:sym typeface="Arial"/>
              </a:rPr>
              <a:t>Tax, public aid and health-system funding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2351544" y="6422231"/>
            <a:ext cx="4443412" cy="1800225"/>
            <a:chOff x="0" y="0"/>
            <a:chExt cx="5924550" cy="24003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924550" cy="2400300"/>
            </a:xfrm>
            <a:custGeom>
              <a:avLst/>
              <a:gdLst/>
              <a:ahLst/>
              <a:cxnLst/>
              <a:rect l="l" t="t" r="r" b="b"/>
              <a:pathLst>
                <a:path w="5924550" h="2400300">
                  <a:moveTo>
                    <a:pt x="0" y="230378"/>
                  </a:moveTo>
                  <a:cubicBezTo>
                    <a:pt x="0" y="103124"/>
                    <a:pt x="103124" y="0"/>
                    <a:pt x="230378" y="0"/>
                  </a:cubicBezTo>
                  <a:lnTo>
                    <a:pt x="5694172" y="0"/>
                  </a:lnTo>
                  <a:cubicBezTo>
                    <a:pt x="5821426" y="0"/>
                    <a:pt x="5924550" y="103124"/>
                    <a:pt x="5924550" y="230378"/>
                  </a:cubicBezTo>
                  <a:lnTo>
                    <a:pt x="5924550" y="2169922"/>
                  </a:lnTo>
                  <a:cubicBezTo>
                    <a:pt x="5924550" y="2297176"/>
                    <a:pt x="5821426" y="2400300"/>
                    <a:pt x="5694172" y="2400300"/>
                  </a:cubicBezTo>
                  <a:lnTo>
                    <a:pt x="230378" y="2400300"/>
                  </a:lnTo>
                  <a:cubicBezTo>
                    <a:pt x="103124" y="2400300"/>
                    <a:pt x="0" y="2297176"/>
                    <a:pt x="0" y="216992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B8BCC4"/>
              </a:solidFill>
              <a:prstDash val="solid"/>
              <a:miter/>
            </a:ln>
          </p:spPr>
        </p:sp>
      </p:grpSp>
      <p:sp>
        <p:nvSpPr>
          <p:cNvPr id="26" name="TextBox 26"/>
          <p:cNvSpPr txBox="1"/>
          <p:nvPr/>
        </p:nvSpPr>
        <p:spPr>
          <a:xfrm>
            <a:off x="12587288" y="6610350"/>
            <a:ext cx="3971925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A5 · Health care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587288" y="7124700"/>
            <a:ext cx="3971925" cy="919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3"/>
              </a:lnSpc>
            </a:pPr>
            <a:r>
              <a:rPr lang="en-US" sz="1912">
                <a:solidFill>
                  <a:srgbClr val="5D6674"/>
                </a:solidFill>
                <a:latin typeface="Arial"/>
                <a:ea typeface="Arial"/>
                <a:cs typeface="Arial"/>
                <a:sym typeface="Arial"/>
              </a:rPr>
              <a:t>Hospital capacity, treatment and health cost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4071938" y="8572500"/>
            <a:ext cx="10144125" cy="771525"/>
            <a:chOff x="0" y="0"/>
            <a:chExt cx="13525500" cy="10287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3525500" cy="1028700"/>
            </a:xfrm>
            <a:custGeom>
              <a:avLst/>
              <a:gdLst/>
              <a:ahLst/>
              <a:cxnLst/>
              <a:rect l="l" t="t" r="r" b="b"/>
              <a:pathLst>
                <a:path w="13525500" h="10287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13335000" y="0"/>
                  </a:lnTo>
                  <a:cubicBezTo>
                    <a:pt x="13440156" y="0"/>
                    <a:pt x="13525500" y="85344"/>
                    <a:pt x="13525500" y="190500"/>
                  </a:cubicBezTo>
                  <a:lnTo>
                    <a:pt x="13525500" y="838200"/>
                  </a:lnTo>
                  <a:cubicBezTo>
                    <a:pt x="13525500" y="943356"/>
                    <a:pt x="13440156" y="1028700"/>
                    <a:pt x="13335000" y="1028700"/>
                  </a:cubicBezTo>
                  <a:lnTo>
                    <a:pt x="190500" y="1028700"/>
                  </a:lnTo>
                  <a:cubicBezTo>
                    <a:pt x="85344" y="1028700"/>
                    <a:pt x="0" y="943356"/>
                    <a:pt x="0" y="83820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id="30" name="TextBox 30"/>
          <p:cNvSpPr txBox="1"/>
          <p:nvPr/>
        </p:nvSpPr>
        <p:spPr>
          <a:xfrm>
            <a:off x="4429125" y="8763000"/>
            <a:ext cx="9429750" cy="395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5"/>
              </a:lnSpc>
            </a:pPr>
            <a:r>
              <a:rPr lang="en-US" sz="2137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Person state: age · position · home · job · infection · severity · wealth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0075" y="347663"/>
            <a:ext cx="1000125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1">
                <a:solidFill>
                  <a:srgbClr val="3D8DFF"/>
                </a:solidFill>
                <a:latin typeface="Arial Bold"/>
                <a:ea typeface="Arial Bold"/>
                <a:cs typeface="Arial Bold"/>
                <a:sym typeface="Arial Bold"/>
              </a:rPr>
              <a:t>BEHAVIOURAL MODEL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00075" y="690562"/>
            <a:ext cx="16573500" cy="1109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9"/>
              </a:lnSpc>
            </a:pPr>
            <a:r>
              <a:rPr lang="en-US" sz="5175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A person follows simple hour-by-hour rules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887825" y="9491663"/>
            <a:ext cx="8001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575">
                <a:solidFill>
                  <a:srgbClr val="5D6674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00075" y="2569912"/>
            <a:ext cx="10001250" cy="6078788"/>
            <a:chOff x="0" y="0"/>
            <a:chExt cx="13335000" cy="60818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335000" cy="6081903"/>
            </a:xfrm>
            <a:custGeom>
              <a:avLst/>
              <a:gdLst/>
              <a:ahLst/>
              <a:cxnLst/>
              <a:rect l="l" t="t" r="r" b="b"/>
              <a:pathLst>
                <a:path w="13335000" h="6081903">
                  <a:moveTo>
                    <a:pt x="0" y="0"/>
                  </a:moveTo>
                  <a:lnTo>
                    <a:pt x="13335000" y="0"/>
                  </a:lnTo>
                  <a:lnTo>
                    <a:pt x="13335000" y="6081903"/>
                  </a:lnTo>
                  <a:lnTo>
                    <a:pt x="0" y="60819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0614973" y="2303212"/>
            <a:ext cx="5429250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812" b="1" dirty="0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Example if–then rules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01325" y="2967038"/>
            <a:ext cx="6429375" cy="3844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37" dirty="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If 00:00–08:00, go home.</a:t>
            </a:r>
          </a:p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37" dirty="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If working hours, employed people go to work.</a:t>
            </a:r>
          </a:p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37" dirty="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If severe infection, go to hospital.</a:t>
            </a:r>
          </a:p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37" dirty="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If distance ≤ 1 unit, contact occurs.</a:t>
            </a:r>
          </a:p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37" dirty="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If contact occurs, infection succeeds with probability 0.9.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0075" y="347663"/>
            <a:ext cx="1000125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1">
                <a:solidFill>
                  <a:srgbClr val="3D8DFF"/>
                </a:solidFill>
                <a:latin typeface="Arial Bold"/>
                <a:ea typeface="Arial Bold"/>
                <a:cs typeface="Arial Bold"/>
                <a:sym typeface="Arial Bold"/>
              </a:rPr>
              <a:t>POLICY EXPERIMENT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00075" y="690562"/>
            <a:ext cx="16573500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9"/>
              </a:lnSpc>
            </a:pPr>
            <a:r>
              <a:rPr lang="en-US" sz="5175" b="1" dirty="0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Seven scenarios change the rules-not the people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887825" y="9491663"/>
            <a:ext cx="8001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575">
                <a:solidFill>
                  <a:srgbClr val="5D6674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14375" y="2033587"/>
            <a:ext cx="714375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#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57375" y="2033587"/>
            <a:ext cx="485775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Scenario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143750" y="2033587"/>
            <a:ext cx="971550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What rule changes?</a:t>
            </a:r>
          </a:p>
        </p:txBody>
      </p:sp>
      <p:sp>
        <p:nvSpPr>
          <p:cNvPr id="8" name="AutoShape 8"/>
          <p:cNvSpPr/>
          <p:nvPr/>
        </p:nvSpPr>
        <p:spPr>
          <a:xfrm rot="4440">
            <a:off x="589350" y="2609850"/>
            <a:ext cx="16666388" cy="0"/>
          </a:xfrm>
          <a:prstGeom prst="line">
            <a:avLst/>
          </a:prstGeom>
          <a:ln w="9525" cap="rnd">
            <a:solidFill>
              <a:srgbClr val="10182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714375" y="2867025"/>
            <a:ext cx="714375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1">
                <a:solidFill>
                  <a:srgbClr val="EF766B"/>
                </a:solidFill>
                <a:latin typeface="Arial Bold"/>
                <a:ea typeface="Arial Bold"/>
                <a:cs typeface="Arial Bold"/>
                <a:sym typeface="Arial Bold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57375" y="2867025"/>
            <a:ext cx="4857750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>
                <a:solidFill>
                  <a:srgbClr val="EF766B"/>
                </a:solidFill>
                <a:latin typeface="Arial Bold"/>
                <a:ea typeface="Arial Bold"/>
                <a:cs typeface="Arial Bold"/>
                <a:sym typeface="Arial Bold"/>
              </a:rPr>
              <a:t>Do nothing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143750" y="2876550"/>
            <a:ext cx="9715500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5D6674"/>
                </a:solidFill>
                <a:latin typeface="Arial"/>
                <a:ea typeface="Arial"/>
                <a:cs typeface="Arial"/>
                <a:sym typeface="Arial"/>
              </a:rPr>
              <a:t>Normal movement</a:t>
            </a:r>
          </a:p>
        </p:txBody>
      </p:sp>
      <p:sp>
        <p:nvSpPr>
          <p:cNvPr id="12" name="AutoShape 12"/>
          <p:cNvSpPr/>
          <p:nvPr/>
        </p:nvSpPr>
        <p:spPr>
          <a:xfrm rot="2040">
            <a:off x="595074" y="3481388"/>
            <a:ext cx="16654939" cy="0"/>
          </a:xfrm>
          <a:prstGeom prst="line">
            <a:avLst/>
          </a:prstGeom>
          <a:ln w="9525" cap="rnd">
            <a:solidFill>
              <a:srgbClr val="B8BCC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/>
          <p:cNvSpPr txBox="1"/>
          <p:nvPr/>
        </p:nvSpPr>
        <p:spPr>
          <a:xfrm>
            <a:off x="714375" y="3709988"/>
            <a:ext cx="714375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1">
                <a:solidFill>
                  <a:srgbClr val="3D8DFF"/>
                </a:solidFill>
                <a:latin typeface="Arial Bold"/>
                <a:ea typeface="Arial Bold"/>
                <a:cs typeface="Arial Bold"/>
                <a:sym typeface="Arial Bold"/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57375" y="3709988"/>
            <a:ext cx="4857750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>
                <a:solidFill>
                  <a:srgbClr val="3D8DFF"/>
                </a:solidFill>
                <a:latin typeface="Arial Bold"/>
                <a:ea typeface="Arial Bold"/>
                <a:cs typeface="Arial Bold"/>
                <a:sym typeface="Arial Bold"/>
              </a:rPr>
              <a:t>Lockdown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143750" y="3719513"/>
            <a:ext cx="9715500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5D6674"/>
                </a:solidFill>
                <a:latin typeface="Arial"/>
                <a:ea typeface="Arial"/>
                <a:cs typeface="Arial"/>
                <a:sym typeface="Arial"/>
              </a:rPr>
              <a:t>People stay home</a:t>
            </a:r>
          </a:p>
        </p:txBody>
      </p:sp>
      <p:sp>
        <p:nvSpPr>
          <p:cNvPr id="16" name="AutoShape 16"/>
          <p:cNvSpPr/>
          <p:nvPr/>
        </p:nvSpPr>
        <p:spPr>
          <a:xfrm rot="2040">
            <a:off x="595074" y="4324350"/>
            <a:ext cx="16654939" cy="0"/>
          </a:xfrm>
          <a:prstGeom prst="line">
            <a:avLst/>
          </a:prstGeom>
          <a:ln w="9525" cap="rnd">
            <a:solidFill>
              <a:srgbClr val="B8BCC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17"/>
          <p:cNvSpPr txBox="1"/>
          <p:nvPr/>
        </p:nvSpPr>
        <p:spPr>
          <a:xfrm>
            <a:off x="714375" y="4552950"/>
            <a:ext cx="714375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1">
                <a:solidFill>
                  <a:srgbClr val="3D8DFF"/>
                </a:solidFill>
                <a:latin typeface="Arial Bold"/>
                <a:ea typeface="Arial Bold"/>
                <a:cs typeface="Arial Bold"/>
                <a:sym typeface="Arial Bold"/>
              </a:rPr>
              <a:t>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57375" y="4552950"/>
            <a:ext cx="4857750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>
                <a:solidFill>
                  <a:srgbClr val="3D8DFF"/>
                </a:solidFill>
                <a:latin typeface="Arial Bold"/>
                <a:ea typeface="Arial Bold"/>
                <a:cs typeface="Arial Bold"/>
                <a:sym typeface="Arial Bold"/>
              </a:rPr>
              <a:t>Conditional lockdown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143750" y="4562475"/>
            <a:ext cx="9715500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5D6674"/>
                </a:solidFill>
                <a:latin typeface="Arial"/>
                <a:ea typeface="Arial"/>
                <a:cs typeface="Arial"/>
                <a:sym typeface="Arial"/>
              </a:rPr>
              <a:t>Turns on/off at 5% infection</a:t>
            </a:r>
          </a:p>
        </p:txBody>
      </p:sp>
      <p:sp>
        <p:nvSpPr>
          <p:cNvPr id="20" name="AutoShape 20"/>
          <p:cNvSpPr/>
          <p:nvPr/>
        </p:nvSpPr>
        <p:spPr>
          <a:xfrm rot="2040">
            <a:off x="595074" y="5167312"/>
            <a:ext cx="16654939" cy="0"/>
          </a:xfrm>
          <a:prstGeom prst="line">
            <a:avLst/>
          </a:prstGeom>
          <a:ln w="9525" cap="rnd">
            <a:solidFill>
              <a:srgbClr val="B8BCC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TextBox 21"/>
          <p:cNvSpPr txBox="1"/>
          <p:nvPr/>
        </p:nvSpPr>
        <p:spPr>
          <a:xfrm>
            <a:off x="714375" y="5395912"/>
            <a:ext cx="714375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1">
                <a:solidFill>
                  <a:srgbClr val="EF766B"/>
                </a:solidFill>
                <a:latin typeface="Arial Bold"/>
                <a:ea typeface="Arial Bold"/>
                <a:cs typeface="Arial Bold"/>
                <a:sym typeface="Arial Bold"/>
              </a:rPr>
              <a:t>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57375" y="5395912"/>
            <a:ext cx="4857750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>
                <a:solidFill>
                  <a:srgbClr val="EF766B"/>
                </a:solidFill>
                <a:latin typeface="Arial Bold"/>
                <a:ea typeface="Arial Bold"/>
                <a:cs typeface="Arial Bold"/>
                <a:sym typeface="Arial Bold"/>
              </a:rPr>
              <a:t>Vertical isolation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143750" y="5405437"/>
            <a:ext cx="9715500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5D6674"/>
                </a:solidFill>
                <a:latin typeface="Arial"/>
                <a:ea typeface="Arial"/>
                <a:cs typeface="Arial"/>
                <a:sym typeface="Arial"/>
              </a:rPr>
              <a:t>Young, old and symptomatic isolate</a:t>
            </a:r>
          </a:p>
        </p:txBody>
      </p:sp>
      <p:sp>
        <p:nvSpPr>
          <p:cNvPr id="24" name="AutoShape 24"/>
          <p:cNvSpPr/>
          <p:nvPr/>
        </p:nvSpPr>
        <p:spPr>
          <a:xfrm rot="2040">
            <a:off x="595074" y="6010275"/>
            <a:ext cx="16654939" cy="0"/>
          </a:xfrm>
          <a:prstGeom prst="line">
            <a:avLst/>
          </a:prstGeom>
          <a:ln w="9525" cap="rnd">
            <a:solidFill>
              <a:srgbClr val="B8BCC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TextBox 25"/>
          <p:cNvSpPr txBox="1"/>
          <p:nvPr/>
        </p:nvSpPr>
        <p:spPr>
          <a:xfrm>
            <a:off x="714375" y="6238875"/>
            <a:ext cx="714375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5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857375" y="6238875"/>
            <a:ext cx="4857750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50% isolation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143750" y="6248400"/>
            <a:ext cx="9715500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5D6674"/>
                </a:solidFill>
                <a:latin typeface="Arial"/>
                <a:ea typeface="Arial"/>
                <a:cs typeface="Arial"/>
                <a:sym typeface="Arial"/>
              </a:rPr>
              <a:t>A random half stays home</a:t>
            </a:r>
          </a:p>
        </p:txBody>
      </p:sp>
      <p:sp>
        <p:nvSpPr>
          <p:cNvPr id="28" name="AutoShape 28"/>
          <p:cNvSpPr/>
          <p:nvPr/>
        </p:nvSpPr>
        <p:spPr>
          <a:xfrm rot="2040">
            <a:off x="595074" y="6853238"/>
            <a:ext cx="16654939" cy="0"/>
          </a:xfrm>
          <a:prstGeom prst="line">
            <a:avLst/>
          </a:prstGeom>
          <a:ln w="9525" cap="rnd">
            <a:solidFill>
              <a:srgbClr val="B8BCC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TextBox 29"/>
          <p:cNvSpPr txBox="1"/>
          <p:nvPr/>
        </p:nvSpPr>
        <p:spPr>
          <a:xfrm>
            <a:off x="714375" y="7081838"/>
            <a:ext cx="714375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857375" y="7081838"/>
            <a:ext cx="4857750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Masks + distance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143750" y="7091363"/>
            <a:ext cx="9715500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5D6674"/>
                </a:solidFill>
                <a:latin typeface="Arial"/>
                <a:ea typeface="Arial"/>
                <a:cs typeface="Arial"/>
                <a:sym typeface="Arial"/>
              </a:rPr>
              <a:t>Lower contact distance and infection chance</a:t>
            </a:r>
          </a:p>
        </p:txBody>
      </p:sp>
      <p:sp>
        <p:nvSpPr>
          <p:cNvPr id="32" name="AutoShape 32"/>
          <p:cNvSpPr/>
          <p:nvPr/>
        </p:nvSpPr>
        <p:spPr>
          <a:xfrm rot="2040">
            <a:off x="595074" y="7696200"/>
            <a:ext cx="16654939" cy="0"/>
          </a:xfrm>
          <a:prstGeom prst="line">
            <a:avLst/>
          </a:prstGeom>
          <a:ln w="9525" cap="rnd">
            <a:solidFill>
              <a:srgbClr val="B8BCC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" name="TextBox 33"/>
          <p:cNvSpPr txBox="1"/>
          <p:nvPr/>
        </p:nvSpPr>
        <p:spPr>
          <a:xfrm>
            <a:off x="714375" y="7924800"/>
            <a:ext cx="714375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1">
                <a:solidFill>
                  <a:srgbClr val="51A77A"/>
                </a:solidFill>
                <a:latin typeface="Arial Bold"/>
                <a:ea typeface="Arial Bold"/>
                <a:cs typeface="Arial Bold"/>
                <a:sym typeface="Arial Bold"/>
              </a:rPr>
              <a:t>7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857375" y="7924800"/>
            <a:ext cx="4857750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>
                <a:solidFill>
                  <a:srgbClr val="51A77A"/>
                </a:solidFill>
                <a:latin typeface="Arial Bold"/>
                <a:ea typeface="Arial Bold"/>
                <a:cs typeface="Arial Bold"/>
                <a:sym typeface="Arial Bold"/>
              </a:rPr>
              <a:t>Masks + 50% isolation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143750" y="7934325"/>
            <a:ext cx="9715500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5D6674"/>
                </a:solidFill>
                <a:latin typeface="Arial"/>
                <a:ea typeface="Arial"/>
                <a:cs typeface="Arial"/>
                <a:sym typeface="Arial"/>
              </a:rPr>
              <a:t>Combine scenarios 5 and 6</a:t>
            </a:r>
          </a:p>
        </p:txBody>
      </p:sp>
      <p:sp>
        <p:nvSpPr>
          <p:cNvPr id="36" name="AutoShape 36"/>
          <p:cNvSpPr/>
          <p:nvPr/>
        </p:nvSpPr>
        <p:spPr>
          <a:xfrm rot="2040">
            <a:off x="595074" y="8539162"/>
            <a:ext cx="16654939" cy="0"/>
          </a:xfrm>
          <a:prstGeom prst="line">
            <a:avLst/>
          </a:prstGeom>
          <a:ln w="9525" cap="rnd">
            <a:solidFill>
              <a:srgbClr val="B8BCC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7" name="TextBox 37"/>
          <p:cNvSpPr txBox="1"/>
          <p:nvPr/>
        </p:nvSpPr>
        <p:spPr>
          <a:xfrm>
            <a:off x="600075" y="8977313"/>
            <a:ext cx="1600200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362" b="1">
                <a:solidFill>
                  <a:srgbClr val="3D8DFF"/>
                </a:solidFill>
                <a:latin typeface="Arial Bold"/>
                <a:ea typeface="Arial Bold"/>
                <a:cs typeface="Arial Bold"/>
                <a:sym typeface="Arial Bold"/>
              </a:rPr>
              <a:t>Audience prediction: which scenario gives the best health–economy balance?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0075" y="347663"/>
            <a:ext cx="1000125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1">
                <a:solidFill>
                  <a:srgbClr val="3D8DFF"/>
                </a:solidFill>
                <a:latin typeface="Arial Bold"/>
                <a:ea typeface="Arial Bold"/>
                <a:cs typeface="Arial Bold"/>
                <a:sym typeface="Arial Bold"/>
              </a:rPr>
              <a:t>EMERGENCE AND RESULTS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00075" y="690562"/>
            <a:ext cx="16573500" cy="1109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9"/>
              </a:lnSpc>
            </a:pPr>
            <a:r>
              <a:rPr lang="en-US" sz="5175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The results show a difficult trade-off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887825" y="9491663"/>
            <a:ext cx="8001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575">
                <a:solidFill>
                  <a:srgbClr val="5D6674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542925" y="2057400"/>
            <a:ext cx="9858375" cy="5429250"/>
            <a:chOff x="0" y="0"/>
            <a:chExt cx="13144500" cy="7239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144500" cy="7239000"/>
            </a:xfrm>
            <a:custGeom>
              <a:avLst/>
              <a:gdLst/>
              <a:ahLst/>
              <a:cxnLst/>
              <a:rect l="l" t="t" r="r" b="b"/>
              <a:pathLst>
                <a:path w="13144500" h="7239000">
                  <a:moveTo>
                    <a:pt x="0" y="0"/>
                  </a:moveTo>
                  <a:lnTo>
                    <a:pt x="13144500" y="0"/>
                  </a:lnTo>
                  <a:lnTo>
                    <a:pt x="13144500" y="7239000"/>
                  </a:lnTo>
                  <a:lnTo>
                    <a:pt x="0" y="723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0972800" y="2071688"/>
            <a:ext cx="6143625" cy="1500188"/>
            <a:chOff x="0" y="0"/>
            <a:chExt cx="8191500" cy="200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91500" cy="2000250"/>
            </a:xfrm>
            <a:custGeom>
              <a:avLst/>
              <a:gdLst/>
              <a:ahLst/>
              <a:cxnLst/>
              <a:rect l="l" t="t" r="r" b="b"/>
              <a:pathLst>
                <a:path w="8191500" h="200025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7962900" y="0"/>
                  </a:lnTo>
                  <a:cubicBezTo>
                    <a:pt x="8089138" y="0"/>
                    <a:pt x="8191500" y="102362"/>
                    <a:pt x="8191500" y="228600"/>
                  </a:cubicBezTo>
                  <a:lnTo>
                    <a:pt x="8191500" y="1771650"/>
                  </a:lnTo>
                  <a:cubicBezTo>
                    <a:pt x="8191500" y="1897888"/>
                    <a:pt x="8089138" y="2000250"/>
                    <a:pt x="7962900" y="2000250"/>
                  </a:cubicBezTo>
                  <a:lnTo>
                    <a:pt x="228600" y="2000250"/>
                  </a:lnTo>
                  <a:cubicBezTo>
                    <a:pt x="102362" y="2000250"/>
                    <a:pt x="0" y="1897888"/>
                    <a:pt x="0" y="1771650"/>
                  </a:cubicBezTo>
                  <a:close/>
                </a:path>
              </a:pathLst>
            </a:custGeom>
            <a:solidFill>
              <a:srgbClr val="EAF5FB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1301412" y="2324100"/>
            <a:ext cx="5429250" cy="404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>
                <a:solidFill>
                  <a:srgbClr val="3D8DFF"/>
                </a:solidFill>
                <a:latin typeface="Arial Bold"/>
                <a:ea typeface="Arial Bold"/>
                <a:cs typeface="Arial Bold"/>
                <a:sym typeface="Arial Bold"/>
              </a:rPr>
              <a:t>Best health result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301412" y="2833687"/>
            <a:ext cx="5429250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362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2 Lockdown · 3 Conditional lockdown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972800" y="3900488"/>
            <a:ext cx="6143625" cy="1500188"/>
            <a:chOff x="0" y="0"/>
            <a:chExt cx="8191500" cy="20002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91500" cy="2000250"/>
            </a:xfrm>
            <a:custGeom>
              <a:avLst/>
              <a:gdLst/>
              <a:ahLst/>
              <a:cxnLst/>
              <a:rect l="l" t="t" r="r" b="b"/>
              <a:pathLst>
                <a:path w="8191500" h="200025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7962900" y="0"/>
                  </a:lnTo>
                  <a:cubicBezTo>
                    <a:pt x="8089138" y="0"/>
                    <a:pt x="8191500" y="102362"/>
                    <a:pt x="8191500" y="228600"/>
                  </a:cubicBezTo>
                  <a:lnTo>
                    <a:pt x="8191500" y="1771650"/>
                  </a:lnTo>
                  <a:cubicBezTo>
                    <a:pt x="8191500" y="1897888"/>
                    <a:pt x="8089138" y="2000250"/>
                    <a:pt x="7962900" y="2000250"/>
                  </a:cubicBezTo>
                  <a:lnTo>
                    <a:pt x="228600" y="2000250"/>
                  </a:lnTo>
                  <a:cubicBezTo>
                    <a:pt x="102362" y="2000250"/>
                    <a:pt x="0" y="1897888"/>
                    <a:pt x="0" y="1771650"/>
                  </a:cubicBezTo>
                  <a:close/>
                </a:path>
              </a:pathLst>
            </a:custGeom>
            <a:solidFill>
              <a:srgbClr val="FBE5E2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11301412" y="4152900"/>
            <a:ext cx="5429250" cy="404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>
                <a:solidFill>
                  <a:srgbClr val="EF766B"/>
                </a:solidFill>
                <a:latin typeface="Arial Bold"/>
                <a:ea typeface="Arial Bold"/>
                <a:cs typeface="Arial Bold"/>
                <a:sym typeface="Arial Bold"/>
              </a:rPr>
              <a:t>Weak result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301412" y="4662487"/>
            <a:ext cx="5429250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362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4 Vertical isolation ≈ 1 Do nothing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0972800" y="5729288"/>
            <a:ext cx="6143625" cy="1657350"/>
            <a:chOff x="0" y="0"/>
            <a:chExt cx="8191500" cy="2209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91500" cy="2209800"/>
            </a:xfrm>
            <a:custGeom>
              <a:avLst/>
              <a:gdLst/>
              <a:ahLst/>
              <a:cxnLst/>
              <a:rect l="l" t="t" r="r" b="b"/>
              <a:pathLst>
                <a:path w="8191500" h="22098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7962900" y="0"/>
                  </a:lnTo>
                  <a:cubicBezTo>
                    <a:pt x="8089138" y="0"/>
                    <a:pt x="8191500" y="102362"/>
                    <a:pt x="8191500" y="228600"/>
                  </a:cubicBezTo>
                  <a:lnTo>
                    <a:pt x="8191500" y="1981200"/>
                  </a:lnTo>
                  <a:cubicBezTo>
                    <a:pt x="8191500" y="2107438"/>
                    <a:pt x="8089138" y="2209800"/>
                    <a:pt x="7962900" y="2209800"/>
                  </a:cubicBezTo>
                  <a:lnTo>
                    <a:pt x="228600" y="2209800"/>
                  </a:lnTo>
                  <a:cubicBezTo>
                    <a:pt x="102362" y="2209800"/>
                    <a:pt x="0" y="2107438"/>
                    <a:pt x="0" y="1981200"/>
                  </a:cubicBezTo>
                  <a:close/>
                </a:path>
              </a:pathLst>
            </a:custGeom>
            <a:solidFill>
              <a:srgbClr val="E3F3EA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11301412" y="5981700"/>
            <a:ext cx="5429250" cy="404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>
                <a:solidFill>
                  <a:srgbClr val="51A77A"/>
                </a:solidFill>
                <a:latin typeface="Arial Bold"/>
                <a:ea typeface="Arial Bold"/>
                <a:cs typeface="Arial Bold"/>
                <a:sym typeface="Arial Bold"/>
              </a:rPr>
              <a:t>Best practical compromise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301412" y="6534150"/>
            <a:ext cx="5429250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7 Masks + 50% isolation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0075" y="347663"/>
            <a:ext cx="1000125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1">
                <a:solidFill>
                  <a:srgbClr val="3D8DFF"/>
                </a:solidFill>
                <a:latin typeface="Arial Bold"/>
                <a:ea typeface="Arial Bold"/>
                <a:cs typeface="Arial Bold"/>
                <a:sym typeface="Arial Bold"/>
              </a:rPr>
              <a:t>VALIDATION AND LIMITATIONS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00075" y="690562"/>
            <a:ext cx="16573500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9"/>
              </a:lnSpc>
            </a:pPr>
            <a:r>
              <a:rPr lang="en-US" sz="5175" b="1" dirty="0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Useful for scenarios-but not an exact forecast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887825" y="9491663"/>
            <a:ext cx="8001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575">
                <a:solidFill>
                  <a:srgbClr val="5D6674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0075" y="2138362"/>
            <a:ext cx="5000625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812" b="1">
                <a:solidFill>
                  <a:srgbClr val="51A77A"/>
                </a:solidFill>
                <a:latin typeface="Arial Bold"/>
                <a:ea typeface="Arial Bold"/>
                <a:cs typeface="Arial Bold"/>
                <a:sym typeface="Arial Bold"/>
              </a:rPr>
              <a:t>What the paper did well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615488" y="2138362"/>
            <a:ext cx="5000625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812" b="1">
                <a:solidFill>
                  <a:srgbClr val="EF766B"/>
                </a:solidFill>
                <a:latin typeface="Arial Bold"/>
                <a:ea typeface="Arial Bold"/>
                <a:cs typeface="Arial Bold"/>
                <a:sym typeface="Arial Bold"/>
              </a:rPr>
              <a:t>What is still weak</a:t>
            </a:r>
          </a:p>
        </p:txBody>
      </p:sp>
      <p:sp>
        <p:nvSpPr>
          <p:cNvPr id="7" name="AutoShape 7"/>
          <p:cNvSpPr/>
          <p:nvPr/>
        </p:nvSpPr>
        <p:spPr>
          <a:xfrm rot="12780">
            <a:off x="585759" y="2833688"/>
            <a:ext cx="7672445" cy="0"/>
          </a:xfrm>
          <a:prstGeom prst="line">
            <a:avLst/>
          </a:prstGeom>
          <a:ln w="19050" cap="rnd">
            <a:solidFill>
              <a:srgbClr val="51A77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 rot="12780">
            <a:off x="9601171" y="2833688"/>
            <a:ext cx="7672445" cy="0"/>
          </a:xfrm>
          <a:prstGeom prst="line">
            <a:avLst/>
          </a:prstGeom>
          <a:ln w="19050" cap="rnd">
            <a:solidFill>
              <a:srgbClr val="EF766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600075" y="3267075"/>
            <a:ext cx="7572375" cy="430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1"/>
              </a:lnSpc>
            </a:pPr>
            <a:r>
              <a:rPr lang="en-US" sz="2137" dirty="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Evidence-based inputs for Brazilian population, income, work and clinical rates.</a:t>
            </a:r>
          </a:p>
          <a:p>
            <a:pPr algn="l">
              <a:lnSpc>
                <a:spcPts val="2641"/>
              </a:lnSpc>
            </a:pPr>
            <a:r>
              <a:rPr lang="en-US" sz="2137" dirty="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Some calibration against a SEIR calculator.</a:t>
            </a:r>
          </a:p>
          <a:p>
            <a:pPr algn="l">
              <a:lnSpc>
                <a:spcPts val="2641"/>
              </a:lnSpc>
            </a:pPr>
            <a:r>
              <a:rPr lang="en-US" sz="2137" dirty="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35 stochastic runs to show average </a:t>
            </a:r>
            <a:r>
              <a:rPr lang="en-US" sz="2137" dirty="0" err="1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behaviour</a:t>
            </a:r>
            <a:r>
              <a:rPr lang="en-US" sz="2137" dirty="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 and variation.</a:t>
            </a:r>
          </a:p>
          <a:p>
            <a:pPr algn="l">
              <a:lnSpc>
                <a:spcPts val="2641"/>
              </a:lnSpc>
            </a:pPr>
            <a:r>
              <a:rPr lang="en-US" sz="2137" dirty="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Comparison with patterns from earlier studies.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615488" y="3267075"/>
            <a:ext cx="7643812" cy="430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1"/>
              </a:lnSpc>
            </a:pPr>
            <a:r>
              <a:rPr lang="en-US" sz="2137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No direct historical fit to Brazilian case and death time series.</a:t>
            </a:r>
          </a:p>
          <a:p>
            <a:pPr algn="l">
              <a:lnSpc>
                <a:spcPts val="2641"/>
              </a:lnSpc>
            </a:pPr>
            <a:r>
              <a:rPr lang="en-US" sz="2137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No independent holdout test in another time or place.</a:t>
            </a:r>
          </a:p>
          <a:p>
            <a:pPr algn="l">
              <a:lnSpc>
                <a:spcPts val="2641"/>
              </a:lnSpc>
            </a:pPr>
            <a:r>
              <a:rPr lang="en-US" sz="2137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Small closed world with only 300 people and random locations.</a:t>
            </a:r>
          </a:p>
          <a:p>
            <a:pPr algn="l">
              <a:lnSpc>
                <a:spcPts val="2641"/>
              </a:lnSpc>
            </a:pPr>
            <a:r>
              <a:rPr lang="en-US" sz="2137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Fixed behaviour and no firing or firm closure.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0075" y="347663"/>
            <a:ext cx="1000125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1">
                <a:solidFill>
                  <a:srgbClr val="3D8DFF"/>
                </a:solidFill>
                <a:latin typeface="Arial Bold"/>
                <a:ea typeface="Arial Bold"/>
                <a:cs typeface="Arial Bold"/>
                <a:sym typeface="Arial Bold"/>
              </a:rPr>
              <a:t>INTERACTIVE BRIDGE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00075" y="700087"/>
            <a:ext cx="16573500" cy="11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9"/>
              </a:lnSpc>
            </a:pPr>
            <a:r>
              <a:rPr lang="en-US" sz="5008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One student has two choices. Is that already complex?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887825" y="9491663"/>
            <a:ext cx="8001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575">
                <a:solidFill>
                  <a:srgbClr val="5D6674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572375" y="2371725"/>
            <a:ext cx="3143250" cy="3143250"/>
            <a:chOff x="0" y="0"/>
            <a:chExt cx="4191000" cy="4191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91000" cy="4191000"/>
            </a:xfrm>
            <a:custGeom>
              <a:avLst/>
              <a:gdLst/>
              <a:ahLst/>
              <a:cxnLst/>
              <a:rect l="l" t="t" r="r" b="b"/>
              <a:pathLst>
                <a:path w="4191000" h="4191000">
                  <a:moveTo>
                    <a:pt x="0" y="2095500"/>
                  </a:moveTo>
                  <a:cubicBezTo>
                    <a:pt x="0" y="938149"/>
                    <a:pt x="938149" y="0"/>
                    <a:pt x="2095500" y="0"/>
                  </a:cubicBezTo>
                  <a:cubicBezTo>
                    <a:pt x="3252851" y="0"/>
                    <a:pt x="4191000" y="938149"/>
                    <a:pt x="4191000" y="2095500"/>
                  </a:cubicBezTo>
                  <a:cubicBezTo>
                    <a:pt x="4191000" y="3252851"/>
                    <a:pt x="3252851" y="4191000"/>
                    <a:pt x="2095500" y="4191000"/>
                  </a:cubicBezTo>
                  <a:cubicBezTo>
                    <a:pt x="938149" y="4191000"/>
                    <a:pt x="0" y="3252851"/>
                    <a:pt x="0" y="2095500"/>
                  </a:cubicBezTo>
                  <a:close/>
                </a:path>
              </a:pathLst>
            </a:custGeom>
            <a:solidFill>
              <a:srgbClr val="EAF5F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4191000" cy="4219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5"/>
                </a:lnSpc>
              </a:pPr>
              <a:r>
                <a:rPr lang="en-US" sz="3262" b="1">
                  <a:solidFill>
                    <a:srgbClr val="3D8D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STUDENT</a:t>
              </a:r>
            </a:p>
          </p:txBody>
        </p:sp>
      </p:grpSp>
      <p:sp>
        <p:nvSpPr>
          <p:cNvPr id="8" name="AutoShape 8"/>
          <p:cNvSpPr/>
          <p:nvPr/>
        </p:nvSpPr>
        <p:spPr>
          <a:xfrm rot="-941280">
            <a:off x="3589468" y="6134100"/>
            <a:ext cx="4808268" cy="0"/>
          </a:xfrm>
          <a:prstGeom prst="line">
            <a:avLst/>
          </a:prstGeom>
          <a:ln w="19050" cap="rnd">
            <a:solidFill>
              <a:srgbClr val="B8BCC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 rot="941280">
            <a:off x="9890255" y="6134100"/>
            <a:ext cx="4808268" cy="0"/>
          </a:xfrm>
          <a:prstGeom prst="line">
            <a:avLst/>
          </a:prstGeom>
          <a:ln w="19050" cap="rnd">
            <a:solidFill>
              <a:srgbClr val="B8BCC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1314450" y="6772275"/>
            <a:ext cx="4786312" cy="1714500"/>
            <a:chOff x="0" y="0"/>
            <a:chExt cx="6381750" cy="2286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81750" cy="2286000"/>
            </a:xfrm>
            <a:custGeom>
              <a:avLst/>
              <a:gdLst/>
              <a:ahLst/>
              <a:cxnLst/>
              <a:rect l="l" t="t" r="r" b="b"/>
              <a:pathLst>
                <a:path w="6381750" h="2286000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lnTo>
                    <a:pt x="6115050" y="0"/>
                  </a:lnTo>
                  <a:cubicBezTo>
                    <a:pt x="6262370" y="0"/>
                    <a:pt x="6381750" y="119380"/>
                    <a:pt x="6381750" y="266700"/>
                  </a:cubicBezTo>
                  <a:lnTo>
                    <a:pt x="6381750" y="2019300"/>
                  </a:lnTo>
                  <a:cubicBezTo>
                    <a:pt x="6381750" y="2166620"/>
                    <a:pt x="6262370" y="2286000"/>
                    <a:pt x="6115050" y="2286000"/>
                  </a:cubicBezTo>
                  <a:lnTo>
                    <a:pt x="266700" y="2286000"/>
                  </a:lnTo>
                  <a:cubicBezTo>
                    <a:pt x="119380" y="2286000"/>
                    <a:pt x="0" y="2166620"/>
                    <a:pt x="0" y="2019300"/>
                  </a:cubicBezTo>
                  <a:close/>
                </a:path>
              </a:pathLst>
            </a:custGeom>
            <a:solidFill>
              <a:srgbClr val="E3F3EA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671638" y="7053262"/>
            <a:ext cx="4071938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>
                <a:solidFill>
                  <a:srgbClr val="51A77A"/>
                </a:solidFill>
                <a:latin typeface="Arial Bold"/>
                <a:ea typeface="Arial Bold"/>
                <a:cs typeface="Arial Bold"/>
                <a:sym typeface="Arial Bold"/>
              </a:rPr>
              <a:t>Choice 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71638" y="7639050"/>
            <a:ext cx="4071938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2307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Prepare and answer honestly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2187238" y="6772275"/>
            <a:ext cx="4786312" cy="1714500"/>
            <a:chOff x="0" y="0"/>
            <a:chExt cx="6381750" cy="2286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81750" cy="2286000"/>
            </a:xfrm>
            <a:custGeom>
              <a:avLst/>
              <a:gdLst/>
              <a:ahLst/>
              <a:cxnLst/>
              <a:rect l="l" t="t" r="r" b="b"/>
              <a:pathLst>
                <a:path w="6381750" h="2286000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lnTo>
                    <a:pt x="6115050" y="0"/>
                  </a:lnTo>
                  <a:cubicBezTo>
                    <a:pt x="6262370" y="0"/>
                    <a:pt x="6381750" y="119380"/>
                    <a:pt x="6381750" y="266700"/>
                  </a:cubicBezTo>
                  <a:lnTo>
                    <a:pt x="6381750" y="2019300"/>
                  </a:lnTo>
                  <a:cubicBezTo>
                    <a:pt x="6381750" y="2166620"/>
                    <a:pt x="6262370" y="2286000"/>
                    <a:pt x="6115050" y="2286000"/>
                  </a:cubicBezTo>
                  <a:lnTo>
                    <a:pt x="266700" y="2286000"/>
                  </a:lnTo>
                  <a:cubicBezTo>
                    <a:pt x="119380" y="2286000"/>
                    <a:pt x="0" y="2166620"/>
                    <a:pt x="0" y="2019300"/>
                  </a:cubicBezTo>
                  <a:close/>
                </a:path>
              </a:pathLst>
            </a:custGeom>
            <a:solidFill>
              <a:srgbClr val="FBE5E2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12544425" y="7053262"/>
            <a:ext cx="4071938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>
                <a:solidFill>
                  <a:srgbClr val="EF766B"/>
                </a:solidFill>
                <a:latin typeface="Arial Bold"/>
                <a:ea typeface="Arial Bold"/>
                <a:cs typeface="Arial Bold"/>
                <a:sym typeface="Arial Bold"/>
              </a:rPr>
              <a:t>Choice B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544425" y="7591425"/>
            <a:ext cx="4071938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49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Make an unauthorized attempt to obtain answers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00075" y="8977313"/>
            <a:ext cx="16644938" cy="423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362" b="1">
                <a:solidFill>
                  <a:srgbClr val="3D8DFF"/>
                </a:solidFill>
                <a:latin typeface="Arial Bold"/>
                <a:ea typeface="Arial Bold"/>
                <a:cs typeface="Arial Bold"/>
                <a:sym typeface="Arial Bold"/>
              </a:rPr>
              <a:t>Answer: one decision is not enough. Complexity appears when many people interact over time.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0075" y="347663"/>
            <a:ext cx="1000125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1">
                <a:solidFill>
                  <a:srgbClr val="3D8DFF"/>
                </a:solidFill>
                <a:latin typeface="Arial Bold"/>
                <a:ea typeface="Arial Bold"/>
                <a:cs typeface="Arial Bold"/>
                <a:sym typeface="Arial Bold"/>
              </a:rPr>
              <a:t>PRACTICAL APPLICATION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00075" y="690562"/>
            <a:ext cx="16573500" cy="1109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9"/>
              </a:lnSpc>
            </a:pPr>
            <a:r>
              <a:rPr lang="en-US" sz="5175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Academic integrity becomes a complex system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887825" y="9491663"/>
            <a:ext cx="8001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575">
                <a:solidFill>
                  <a:srgbClr val="5D6674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</a:p>
        </p:txBody>
      </p:sp>
      <p:sp>
        <p:nvSpPr>
          <p:cNvPr id="5" name="AutoShape 5"/>
          <p:cNvSpPr/>
          <p:nvPr/>
        </p:nvSpPr>
        <p:spPr>
          <a:xfrm rot="3161760">
            <a:off x="5680672" y="4241006"/>
            <a:ext cx="2640406" cy="0"/>
          </a:xfrm>
          <a:prstGeom prst="line">
            <a:avLst/>
          </a:prstGeom>
          <a:ln w="19050" cap="rnd">
            <a:solidFill>
              <a:srgbClr val="B8BCC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rot="-3161760">
            <a:off x="9966922" y="4241006"/>
            <a:ext cx="2640406" cy="0"/>
          </a:xfrm>
          <a:prstGeom prst="line">
            <a:avLst/>
          </a:prstGeom>
          <a:ln w="19050" cap="rnd">
            <a:solidFill>
              <a:srgbClr val="B8BCC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rot="-3238380">
            <a:off x="5640562" y="6362700"/>
            <a:ext cx="2720635" cy="0"/>
          </a:xfrm>
          <a:prstGeom prst="line">
            <a:avLst/>
          </a:prstGeom>
          <a:ln w="19050" cap="rnd">
            <a:solidFill>
              <a:srgbClr val="B8BCC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 rot="3238380">
            <a:off x="9926812" y="6362700"/>
            <a:ext cx="2720635" cy="0"/>
          </a:xfrm>
          <a:prstGeom prst="line">
            <a:avLst/>
          </a:prstGeom>
          <a:ln w="19050" cap="rnd">
            <a:solidFill>
              <a:srgbClr val="B8BCC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7786688" y="3929062"/>
            <a:ext cx="2714625" cy="2714625"/>
            <a:chOff x="0" y="0"/>
            <a:chExt cx="3619500" cy="36195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619500" cy="3619500"/>
            </a:xfrm>
            <a:custGeom>
              <a:avLst/>
              <a:gdLst/>
              <a:ahLst/>
              <a:cxnLst/>
              <a:rect l="l" t="t" r="r" b="b"/>
              <a:pathLst>
                <a:path w="3619500" h="3619500">
                  <a:moveTo>
                    <a:pt x="0" y="1809750"/>
                  </a:moveTo>
                  <a:cubicBezTo>
                    <a:pt x="0" y="810260"/>
                    <a:pt x="810260" y="0"/>
                    <a:pt x="1809750" y="0"/>
                  </a:cubicBezTo>
                  <a:cubicBezTo>
                    <a:pt x="2809240" y="0"/>
                    <a:pt x="3619500" y="810260"/>
                    <a:pt x="3619500" y="1809750"/>
                  </a:cubicBezTo>
                  <a:cubicBezTo>
                    <a:pt x="3619500" y="2809240"/>
                    <a:pt x="2809240" y="3619500"/>
                    <a:pt x="1809750" y="3619500"/>
                  </a:cubicBezTo>
                  <a:cubicBezTo>
                    <a:pt x="810260" y="3619500"/>
                    <a:pt x="0" y="2809240"/>
                    <a:pt x="0" y="1809750"/>
                  </a:cubicBezTo>
                  <a:close/>
                </a:path>
              </a:pathLst>
            </a:custGeom>
            <a:solidFill>
              <a:srgbClr val="EAF5FB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3619500" cy="3638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3D8D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STUDENT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07294" y="2250281"/>
            <a:ext cx="5014912" cy="1943100"/>
            <a:chOff x="0" y="0"/>
            <a:chExt cx="6686550" cy="2590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686550" cy="2590800"/>
            </a:xfrm>
            <a:custGeom>
              <a:avLst/>
              <a:gdLst/>
              <a:ahLst/>
              <a:cxnLst/>
              <a:rect l="l" t="t" r="r" b="b"/>
              <a:pathLst>
                <a:path w="6686550" h="2590800">
                  <a:moveTo>
                    <a:pt x="0" y="230251"/>
                  </a:moveTo>
                  <a:cubicBezTo>
                    <a:pt x="0" y="103124"/>
                    <a:pt x="103124" y="0"/>
                    <a:pt x="230251" y="0"/>
                  </a:cubicBezTo>
                  <a:lnTo>
                    <a:pt x="6456299" y="0"/>
                  </a:lnTo>
                  <a:cubicBezTo>
                    <a:pt x="6583426" y="0"/>
                    <a:pt x="6686550" y="103124"/>
                    <a:pt x="6686550" y="230251"/>
                  </a:cubicBezTo>
                  <a:lnTo>
                    <a:pt x="6686550" y="2360549"/>
                  </a:lnTo>
                  <a:cubicBezTo>
                    <a:pt x="6686550" y="2487676"/>
                    <a:pt x="6583426" y="2590800"/>
                    <a:pt x="6456299" y="2590800"/>
                  </a:cubicBezTo>
                  <a:lnTo>
                    <a:pt x="230251" y="2590800"/>
                  </a:lnTo>
                  <a:cubicBezTo>
                    <a:pt x="103124" y="2590800"/>
                    <a:pt x="0" y="2487676"/>
                    <a:pt x="0" y="2360549"/>
                  </a:cubicBezTo>
                  <a:close/>
                </a:path>
              </a:pathLst>
            </a:custGeom>
            <a:solidFill>
              <a:srgbClr val="F1ECFA"/>
            </a:solidFill>
            <a:ln w="14288" cap="sq">
              <a:solidFill>
                <a:srgbClr val="B8BCC4"/>
              </a:solidFill>
              <a:prstDash val="solid"/>
              <a:miter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1443038" y="2438400"/>
            <a:ext cx="4543425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 b="1">
                <a:solidFill>
                  <a:srgbClr val="8C6FD1"/>
                </a:solidFill>
                <a:latin typeface="Arial Bold"/>
                <a:ea typeface="Arial Bold"/>
                <a:cs typeface="Arial Bold"/>
                <a:sym typeface="Arial Bold"/>
              </a:rPr>
              <a:t>Friends / peers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43038" y="2952750"/>
            <a:ext cx="4543425" cy="1062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3"/>
              </a:lnSpc>
            </a:pPr>
            <a:r>
              <a:rPr lang="en-US" sz="1912">
                <a:solidFill>
                  <a:srgbClr val="5D6674"/>
                </a:solidFill>
                <a:latin typeface="Arial"/>
                <a:ea typeface="Arial"/>
                <a:cs typeface="Arial"/>
                <a:sym typeface="Arial"/>
              </a:rPr>
              <a:t>Honest or dishonest behaviour changes what feels normal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065794" y="2250281"/>
            <a:ext cx="5014912" cy="1943100"/>
            <a:chOff x="0" y="0"/>
            <a:chExt cx="6686550" cy="2590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686550" cy="2590800"/>
            </a:xfrm>
            <a:custGeom>
              <a:avLst/>
              <a:gdLst/>
              <a:ahLst/>
              <a:cxnLst/>
              <a:rect l="l" t="t" r="r" b="b"/>
              <a:pathLst>
                <a:path w="6686550" h="2590800">
                  <a:moveTo>
                    <a:pt x="0" y="230251"/>
                  </a:moveTo>
                  <a:cubicBezTo>
                    <a:pt x="0" y="103124"/>
                    <a:pt x="103124" y="0"/>
                    <a:pt x="230251" y="0"/>
                  </a:cubicBezTo>
                  <a:lnTo>
                    <a:pt x="6456299" y="0"/>
                  </a:lnTo>
                  <a:cubicBezTo>
                    <a:pt x="6583426" y="0"/>
                    <a:pt x="6686550" y="103124"/>
                    <a:pt x="6686550" y="230251"/>
                  </a:cubicBezTo>
                  <a:lnTo>
                    <a:pt x="6686550" y="2360549"/>
                  </a:lnTo>
                  <a:cubicBezTo>
                    <a:pt x="6686550" y="2487676"/>
                    <a:pt x="6583426" y="2590800"/>
                    <a:pt x="6456299" y="2590800"/>
                  </a:cubicBezTo>
                  <a:lnTo>
                    <a:pt x="230251" y="2590800"/>
                  </a:lnTo>
                  <a:cubicBezTo>
                    <a:pt x="103124" y="2590800"/>
                    <a:pt x="0" y="2487676"/>
                    <a:pt x="0" y="2360549"/>
                  </a:cubicBezTo>
                  <a:close/>
                </a:path>
              </a:pathLst>
            </a:custGeom>
            <a:solidFill>
              <a:srgbClr val="E3F3EA"/>
            </a:solidFill>
            <a:ln w="14288" cap="sq">
              <a:solidFill>
                <a:srgbClr val="B8BCC4"/>
              </a:solidFill>
              <a:prstDash val="solid"/>
              <a:miter/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12301538" y="2438400"/>
            <a:ext cx="4543425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 b="1">
                <a:solidFill>
                  <a:srgbClr val="51A77A"/>
                </a:solidFill>
                <a:latin typeface="Arial Bold"/>
                <a:ea typeface="Arial Bold"/>
                <a:cs typeface="Arial Bold"/>
                <a:sym typeface="Arial Bold"/>
              </a:rPr>
              <a:t>Teacher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301538" y="2952750"/>
            <a:ext cx="4543425" cy="1062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3"/>
              </a:lnSpc>
            </a:pPr>
            <a:r>
              <a:rPr lang="en-US" sz="1912">
                <a:solidFill>
                  <a:srgbClr val="5D6674"/>
                </a:solidFill>
                <a:latin typeface="Arial"/>
                <a:ea typeface="Arial"/>
                <a:cs typeface="Arial"/>
                <a:sym typeface="Arial"/>
              </a:rPr>
              <a:t>Teaching quality, feedback, deadlines and fair assessment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207294" y="6493669"/>
            <a:ext cx="5014912" cy="1943100"/>
            <a:chOff x="0" y="0"/>
            <a:chExt cx="6686550" cy="2590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686550" cy="2590800"/>
            </a:xfrm>
            <a:custGeom>
              <a:avLst/>
              <a:gdLst/>
              <a:ahLst/>
              <a:cxnLst/>
              <a:rect l="l" t="t" r="r" b="b"/>
              <a:pathLst>
                <a:path w="6686550" h="2590800">
                  <a:moveTo>
                    <a:pt x="0" y="230251"/>
                  </a:moveTo>
                  <a:cubicBezTo>
                    <a:pt x="0" y="103124"/>
                    <a:pt x="103124" y="0"/>
                    <a:pt x="230251" y="0"/>
                  </a:cubicBezTo>
                  <a:lnTo>
                    <a:pt x="6456299" y="0"/>
                  </a:lnTo>
                  <a:cubicBezTo>
                    <a:pt x="6583426" y="0"/>
                    <a:pt x="6686550" y="103124"/>
                    <a:pt x="6686550" y="230251"/>
                  </a:cubicBezTo>
                  <a:lnTo>
                    <a:pt x="6686550" y="2360549"/>
                  </a:lnTo>
                  <a:cubicBezTo>
                    <a:pt x="6686550" y="2487676"/>
                    <a:pt x="6583426" y="2590800"/>
                    <a:pt x="6456299" y="2590800"/>
                  </a:cubicBezTo>
                  <a:lnTo>
                    <a:pt x="230251" y="2590800"/>
                  </a:lnTo>
                  <a:cubicBezTo>
                    <a:pt x="103124" y="2590800"/>
                    <a:pt x="0" y="2487676"/>
                    <a:pt x="0" y="2360549"/>
                  </a:cubicBezTo>
                  <a:close/>
                </a:path>
              </a:pathLst>
            </a:custGeom>
            <a:solidFill>
              <a:srgbClr val="FBE5E2"/>
            </a:solidFill>
            <a:ln w="14288" cap="sq">
              <a:solidFill>
                <a:srgbClr val="B8BCC4"/>
              </a:solidFill>
              <a:prstDash val="solid"/>
              <a:miter/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1443038" y="6681788"/>
            <a:ext cx="4543425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 b="1">
                <a:solidFill>
                  <a:srgbClr val="EF766B"/>
                </a:solidFill>
                <a:latin typeface="Arial Bold"/>
                <a:ea typeface="Arial Bold"/>
                <a:cs typeface="Arial Bold"/>
                <a:sym typeface="Arial Bold"/>
              </a:rPr>
              <a:t>Exam system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43038" y="7196138"/>
            <a:ext cx="4543425" cy="1062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3"/>
              </a:lnSpc>
            </a:pPr>
            <a:r>
              <a:rPr lang="en-US" sz="1912">
                <a:solidFill>
                  <a:srgbClr val="5D6674"/>
                </a:solidFill>
                <a:latin typeface="Arial"/>
                <a:ea typeface="Arial"/>
                <a:cs typeface="Arial"/>
                <a:sym typeface="Arial"/>
              </a:rPr>
              <a:t>Monitoring, rules, detection and consequences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2065794" y="6493669"/>
            <a:ext cx="5014912" cy="1943100"/>
            <a:chOff x="0" y="0"/>
            <a:chExt cx="6686550" cy="2590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686550" cy="2590800"/>
            </a:xfrm>
            <a:custGeom>
              <a:avLst/>
              <a:gdLst/>
              <a:ahLst/>
              <a:cxnLst/>
              <a:rect l="l" t="t" r="r" b="b"/>
              <a:pathLst>
                <a:path w="6686550" h="2590800">
                  <a:moveTo>
                    <a:pt x="0" y="230251"/>
                  </a:moveTo>
                  <a:cubicBezTo>
                    <a:pt x="0" y="103124"/>
                    <a:pt x="103124" y="0"/>
                    <a:pt x="230251" y="0"/>
                  </a:cubicBezTo>
                  <a:lnTo>
                    <a:pt x="6456299" y="0"/>
                  </a:lnTo>
                  <a:cubicBezTo>
                    <a:pt x="6583426" y="0"/>
                    <a:pt x="6686550" y="103124"/>
                    <a:pt x="6686550" y="230251"/>
                  </a:cubicBezTo>
                  <a:lnTo>
                    <a:pt x="6686550" y="2360549"/>
                  </a:lnTo>
                  <a:cubicBezTo>
                    <a:pt x="6686550" y="2487676"/>
                    <a:pt x="6583426" y="2590800"/>
                    <a:pt x="6456299" y="2590800"/>
                  </a:cubicBezTo>
                  <a:lnTo>
                    <a:pt x="230251" y="2590800"/>
                  </a:lnTo>
                  <a:cubicBezTo>
                    <a:pt x="103124" y="2590800"/>
                    <a:pt x="0" y="2487676"/>
                    <a:pt x="0" y="2360549"/>
                  </a:cubicBezTo>
                  <a:close/>
                </a:path>
              </a:pathLst>
            </a:custGeom>
            <a:solidFill>
              <a:srgbClr val="FFF4D8"/>
            </a:solidFill>
            <a:ln w="14288" cap="sq">
              <a:solidFill>
                <a:srgbClr val="B8BCC4"/>
              </a:solidFill>
              <a:prstDash val="solid"/>
              <a:miter/>
            </a:ln>
          </p:spPr>
        </p:sp>
      </p:grpSp>
      <p:sp>
        <p:nvSpPr>
          <p:cNvPr id="26" name="TextBox 26"/>
          <p:cNvSpPr txBox="1"/>
          <p:nvPr/>
        </p:nvSpPr>
        <p:spPr>
          <a:xfrm>
            <a:off x="12301538" y="6681788"/>
            <a:ext cx="4543425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Support services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301538" y="7196138"/>
            <a:ext cx="4543425" cy="1062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3"/>
              </a:lnSpc>
            </a:pPr>
            <a:r>
              <a:rPr lang="en-US" sz="1912">
                <a:solidFill>
                  <a:srgbClr val="5D6674"/>
                </a:solidFill>
                <a:latin typeface="Arial"/>
                <a:ea typeface="Arial"/>
                <a:cs typeface="Arial"/>
                <a:sym typeface="Arial"/>
              </a:rPr>
              <a:t>Tutoring, counselling, study skills and early help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0075" y="347663"/>
            <a:ext cx="1000125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1">
                <a:solidFill>
                  <a:srgbClr val="3D8DFF"/>
                </a:solidFill>
                <a:latin typeface="Arial Bold"/>
                <a:ea typeface="Arial Bold"/>
                <a:cs typeface="Arial Bold"/>
                <a:sym typeface="Arial Bold"/>
              </a:rPr>
              <a:t>MODEL DESIGN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00075" y="690562"/>
            <a:ext cx="16573500" cy="1109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9"/>
              </a:lnSpc>
            </a:pPr>
            <a:r>
              <a:rPr lang="en-US" sz="5175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Proposed ABM: agents, states, rules and outputs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887825" y="9491663"/>
            <a:ext cx="8001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575">
                <a:solidFill>
                  <a:srgbClr val="5D6674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0075" y="2033587"/>
            <a:ext cx="2428875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Part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00438" y="2033587"/>
            <a:ext cx="6500812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 b="1">
                <a:solidFill>
                  <a:srgbClr val="3D8DFF"/>
                </a:solidFill>
                <a:latin typeface="Arial Bold"/>
                <a:ea typeface="Arial Bold"/>
                <a:cs typeface="Arial Bold"/>
                <a:sym typeface="Arial Bold"/>
              </a:rPr>
              <a:t>Example design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501312" y="2033587"/>
            <a:ext cx="6715125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Why it matters</a:t>
            </a:r>
          </a:p>
        </p:txBody>
      </p:sp>
      <p:sp>
        <p:nvSpPr>
          <p:cNvPr id="8" name="AutoShape 8"/>
          <p:cNvSpPr/>
          <p:nvPr/>
        </p:nvSpPr>
        <p:spPr>
          <a:xfrm rot="4440">
            <a:off x="589350" y="2609850"/>
            <a:ext cx="16666388" cy="0"/>
          </a:xfrm>
          <a:prstGeom prst="line">
            <a:avLst/>
          </a:prstGeom>
          <a:ln w="9525" cap="rnd">
            <a:solidFill>
              <a:srgbClr val="10182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600075" y="2938462"/>
            <a:ext cx="2428875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>
                <a:solidFill>
                  <a:srgbClr val="3D8DFF"/>
                </a:solidFill>
                <a:latin typeface="Arial Bold"/>
                <a:ea typeface="Arial Bold"/>
                <a:cs typeface="Arial Bold"/>
                <a:sym typeface="Arial Bold"/>
              </a:rPr>
              <a:t>Agents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500438" y="2947987"/>
            <a:ext cx="6500812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Students, peer groups, teachers, exam unit, support services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501312" y="2947987"/>
            <a:ext cx="6715125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5D6674"/>
                </a:solidFill>
                <a:latin typeface="Arial"/>
                <a:ea typeface="Arial"/>
                <a:cs typeface="Arial"/>
                <a:sym typeface="Arial"/>
              </a:rPr>
              <a:t>Different actors have different goals and information</a:t>
            </a:r>
          </a:p>
        </p:txBody>
      </p:sp>
      <p:sp>
        <p:nvSpPr>
          <p:cNvPr id="12" name="AutoShape 12"/>
          <p:cNvSpPr/>
          <p:nvPr/>
        </p:nvSpPr>
        <p:spPr>
          <a:xfrm rot="2040">
            <a:off x="595074" y="3867150"/>
            <a:ext cx="16654939" cy="0"/>
          </a:xfrm>
          <a:prstGeom prst="line">
            <a:avLst/>
          </a:prstGeom>
          <a:ln w="9525" cap="rnd">
            <a:solidFill>
              <a:srgbClr val="B8BCC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/>
          <p:cNvSpPr txBox="1"/>
          <p:nvPr/>
        </p:nvSpPr>
        <p:spPr>
          <a:xfrm>
            <a:off x="600075" y="4081462"/>
            <a:ext cx="2428875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>
                <a:solidFill>
                  <a:srgbClr val="3D8DFF"/>
                </a:solidFill>
                <a:latin typeface="Arial Bold"/>
                <a:ea typeface="Arial Bold"/>
                <a:cs typeface="Arial Bold"/>
                <a:sym typeface="Arial Bold"/>
              </a:rPr>
              <a:t>Student state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500438" y="4090987"/>
            <a:ext cx="6500812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Preparation, knowledge, stress, ethics, pressure, perceived risk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501312" y="4090987"/>
            <a:ext cx="6715125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5D6674"/>
                </a:solidFill>
                <a:latin typeface="Arial"/>
                <a:ea typeface="Arial"/>
                <a:cs typeface="Arial"/>
                <a:sym typeface="Arial"/>
              </a:rPr>
              <a:t>The same exam can produce different decisions</a:t>
            </a:r>
          </a:p>
        </p:txBody>
      </p:sp>
      <p:sp>
        <p:nvSpPr>
          <p:cNvPr id="16" name="AutoShape 16"/>
          <p:cNvSpPr/>
          <p:nvPr/>
        </p:nvSpPr>
        <p:spPr>
          <a:xfrm rot="2040">
            <a:off x="595074" y="5010150"/>
            <a:ext cx="16654939" cy="0"/>
          </a:xfrm>
          <a:prstGeom prst="line">
            <a:avLst/>
          </a:prstGeom>
          <a:ln w="9525" cap="rnd">
            <a:solidFill>
              <a:srgbClr val="B8BCC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17"/>
          <p:cNvSpPr txBox="1"/>
          <p:nvPr/>
        </p:nvSpPr>
        <p:spPr>
          <a:xfrm>
            <a:off x="600075" y="5224462"/>
            <a:ext cx="2428875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>
                <a:solidFill>
                  <a:srgbClr val="3D8DFF"/>
                </a:solidFill>
                <a:latin typeface="Arial Bold"/>
                <a:ea typeface="Arial Bold"/>
                <a:cs typeface="Arial Bold"/>
                <a:sym typeface="Arial Bold"/>
              </a:rPr>
              <a:t>Environment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500438" y="5233987"/>
            <a:ext cx="6500812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Class, friend network, online learning space, exam setting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501312" y="5233987"/>
            <a:ext cx="6715125" cy="27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dirty="0">
                <a:solidFill>
                  <a:srgbClr val="5D6674"/>
                </a:solidFill>
                <a:latin typeface="Arial"/>
                <a:ea typeface="Arial"/>
                <a:cs typeface="Arial"/>
                <a:sym typeface="Arial"/>
              </a:rPr>
              <a:t>Influence is local-not every student meets everyone</a:t>
            </a:r>
          </a:p>
        </p:txBody>
      </p:sp>
      <p:sp>
        <p:nvSpPr>
          <p:cNvPr id="20" name="AutoShape 20"/>
          <p:cNvSpPr/>
          <p:nvPr/>
        </p:nvSpPr>
        <p:spPr>
          <a:xfrm rot="2040">
            <a:off x="595074" y="6153150"/>
            <a:ext cx="16654939" cy="0"/>
          </a:xfrm>
          <a:prstGeom prst="line">
            <a:avLst/>
          </a:prstGeom>
          <a:ln w="9525" cap="rnd">
            <a:solidFill>
              <a:srgbClr val="B8BCC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TextBox 21"/>
          <p:cNvSpPr txBox="1"/>
          <p:nvPr/>
        </p:nvSpPr>
        <p:spPr>
          <a:xfrm>
            <a:off x="600075" y="6367462"/>
            <a:ext cx="2428875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>
                <a:solidFill>
                  <a:srgbClr val="3D8DFF"/>
                </a:solidFill>
                <a:latin typeface="Arial Bold"/>
                <a:ea typeface="Arial Bold"/>
                <a:cs typeface="Arial Bold"/>
                <a:sym typeface="Arial Bold"/>
              </a:rPr>
              <a:t>Actions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500438" y="6376987"/>
            <a:ext cx="6500812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Study, ask for help, share norms, answer honestly, unauthorized attempt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501312" y="6376987"/>
            <a:ext cx="6715125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5D6674"/>
                </a:solidFill>
                <a:latin typeface="Arial"/>
                <a:ea typeface="Arial"/>
                <a:cs typeface="Arial"/>
                <a:sym typeface="Arial"/>
              </a:rPr>
              <a:t>Actions change both self and peers</a:t>
            </a:r>
          </a:p>
        </p:txBody>
      </p:sp>
      <p:sp>
        <p:nvSpPr>
          <p:cNvPr id="24" name="AutoShape 24"/>
          <p:cNvSpPr/>
          <p:nvPr/>
        </p:nvSpPr>
        <p:spPr>
          <a:xfrm rot="2040">
            <a:off x="595074" y="7296150"/>
            <a:ext cx="16654939" cy="0"/>
          </a:xfrm>
          <a:prstGeom prst="line">
            <a:avLst/>
          </a:prstGeom>
          <a:ln w="9525" cap="rnd">
            <a:solidFill>
              <a:srgbClr val="B8BCC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TextBox 25"/>
          <p:cNvSpPr txBox="1"/>
          <p:nvPr/>
        </p:nvSpPr>
        <p:spPr>
          <a:xfrm>
            <a:off x="600075" y="7510462"/>
            <a:ext cx="2428875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>
                <a:solidFill>
                  <a:srgbClr val="3D8DFF"/>
                </a:solidFill>
                <a:latin typeface="Arial Bold"/>
                <a:ea typeface="Arial Bold"/>
                <a:cs typeface="Arial Bold"/>
                <a:sym typeface="Arial Bold"/>
              </a:rPr>
              <a:t>Outputs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500438" y="7519987"/>
            <a:ext cx="6500812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Honest rate, attempts, detections, marks, stress, trust, cost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501312" y="7519987"/>
            <a:ext cx="6715125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5D6674"/>
                </a:solidFill>
                <a:latin typeface="Arial"/>
                <a:ea typeface="Arial"/>
                <a:cs typeface="Arial"/>
                <a:sym typeface="Arial"/>
              </a:rPr>
              <a:t>Policies can have benefits and side effects</a:t>
            </a:r>
          </a:p>
        </p:txBody>
      </p:sp>
      <p:sp>
        <p:nvSpPr>
          <p:cNvPr id="28" name="AutoShape 28"/>
          <p:cNvSpPr/>
          <p:nvPr/>
        </p:nvSpPr>
        <p:spPr>
          <a:xfrm rot="2040">
            <a:off x="595074" y="8439150"/>
            <a:ext cx="16654939" cy="0"/>
          </a:xfrm>
          <a:prstGeom prst="line">
            <a:avLst/>
          </a:prstGeom>
          <a:ln w="9525" cap="rnd">
            <a:solidFill>
              <a:srgbClr val="B8BCC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9" name="Group 29"/>
          <p:cNvGrpSpPr/>
          <p:nvPr/>
        </p:nvGrpSpPr>
        <p:grpSpPr>
          <a:xfrm>
            <a:off x="600075" y="8872538"/>
            <a:ext cx="16644938" cy="557212"/>
            <a:chOff x="0" y="0"/>
            <a:chExt cx="22193250" cy="74295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2193250" cy="742950"/>
            </a:xfrm>
            <a:custGeom>
              <a:avLst/>
              <a:gdLst/>
              <a:ahLst/>
              <a:cxnLst/>
              <a:rect l="l" t="t" r="r" b="b"/>
              <a:pathLst>
                <a:path w="22193250" h="74295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22040850" y="0"/>
                  </a:lnTo>
                  <a:cubicBezTo>
                    <a:pt x="22125051" y="0"/>
                    <a:pt x="22193250" y="68199"/>
                    <a:pt x="22193250" y="152400"/>
                  </a:cubicBezTo>
                  <a:lnTo>
                    <a:pt x="22193250" y="590550"/>
                  </a:lnTo>
                  <a:cubicBezTo>
                    <a:pt x="22193250" y="674751"/>
                    <a:pt x="22125051" y="742950"/>
                    <a:pt x="22040850" y="742950"/>
                  </a:cubicBezTo>
                  <a:lnTo>
                    <a:pt x="152400" y="742950"/>
                  </a:lnTo>
                  <a:cubicBezTo>
                    <a:pt x="68199" y="742950"/>
                    <a:pt x="0" y="674751"/>
                    <a:pt x="0" y="590550"/>
                  </a:cubicBezTo>
                  <a:close/>
                </a:path>
              </a:pathLst>
            </a:custGeom>
            <a:solidFill>
              <a:srgbClr val="EAF5FB"/>
            </a:solidFill>
          </p:spPr>
        </p:sp>
      </p:grpSp>
      <p:sp>
        <p:nvSpPr>
          <p:cNvPr id="31" name="TextBox 31"/>
          <p:cNvSpPr txBox="1"/>
          <p:nvPr/>
        </p:nvSpPr>
        <p:spPr>
          <a:xfrm>
            <a:off x="928688" y="8991600"/>
            <a:ext cx="15930562" cy="288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62"/>
              </a:lnSpc>
            </a:pPr>
            <a:r>
              <a:rPr lang="en-US" sz="1968" b="1" dirty="0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This is our proposed application-not a model from the COVID-ABS paper.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0075" y="347663"/>
            <a:ext cx="1000125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1">
                <a:solidFill>
                  <a:srgbClr val="3D8DFF"/>
                </a:solidFill>
                <a:latin typeface="Arial Bold"/>
                <a:ea typeface="Arial Bold"/>
                <a:cs typeface="Arial Bold"/>
                <a:sym typeface="Arial Bold"/>
              </a:rPr>
              <a:t>RULES AND FEEDBACK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00075" y="690562"/>
            <a:ext cx="16573500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9"/>
              </a:lnSpc>
            </a:pPr>
            <a:r>
              <a:rPr lang="en-US" sz="5175" b="1" dirty="0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The decision is probabilistic-not automatic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887825" y="9491663"/>
            <a:ext cx="8001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575">
                <a:solidFill>
                  <a:srgbClr val="5D6674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0075" y="2024062"/>
            <a:ext cx="7286625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dirty="0">
                <a:solidFill>
                  <a:srgbClr val="EF766B"/>
                </a:solidFill>
                <a:latin typeface="Arial Bold"/>
                <a:ea typeface="Arial Bold"/>
                <a:cs typeface="Arial Bold"/>
                <a:sym typeface="Arial Bold"/>
              </a:rPr>
              <a:t>Pressures that increase temptation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429875" y="2024062"/>
            <a:ext cx="6829425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51A77A"/>
                </a:solidFill>
                <a:latin typeface="Arial Bold"/>
                <a:ea typeface="Arial Bold"/>
                <a:cs typeface="Arial Bold"/>
                <a:sym typeface="Arial Bold"/>
              </a:rPr>
              <a:t>Protection that supports honesty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600075" y="2828925"/>
            <a:ext cx="5214938" cy="685800"/>
            <a:chOff x="0" y="0"/>
            <a:chExt cx="6953250" cy="914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953250" cy="914400"/>
            </a:xfrm>
            <a:custGeom>
              <a:avLst/>
              <a:gdLst/>
              <a:ahLst/>
              <a:cxnLst/>
              <a:rect l="l" t="t" r="r" b="b"/>
              <a:pathLst>
                <a:path w="6953250" h="914400">
                  <a:moveTo>
                    <a:pt x="0" y="171450"/>
                  </a:moveTo>
                  <a:cubicBezTo>
                    <a:pt x="0" y="76708"/>
                    <a:pt x="76708" y="0"/>
                    <a:pt x="171450" y="0"/>
                  </a:cubicBezTo>
                  <a:lnTo>
                    <a:pt x="6781800" y="0"/>
                  </a:lnTo>
                  <a:cubicBezTo>
                    <a:pt x="6876542" y="0"/>
                    <a:pt x="6953250" y="76708"/>
                    <a:pt x="6953250" y="171450"/>
                  </a:cubicBezTo>
                  <a:lnTo>
                    <a:pt x="6953250" y="742950"/>
                  </a:lnTo>
                  <a:cubicBezTo>
                    <a:pt x="6953250" y="837692"/>
                    <a:pt x="6876542" y="914400"/>
                    <a:pt x="6781800" y="914400"/>
                  </a:cubicBezTo>
                  <a:lnTo>
                    <a:pt x="171450" y="914400"/>
                  </a:lnTo>
                  <a:cubicBezTo>
                    <a:pt x="76708" y="914400"/>
                    <a:pt x="0" y="837692"/>
                    <a:pt x="0" y="742950"/>
                  </a:cubicBezTo>
                  <a:close/>
                </a:path>
              </a:pathLst>
            </a:custGeom>
            <a:solidFill>
              <a:srgbClr val="FBE5E2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871538" y="3005137"/>
            <a:ext cx="4643438" cy="366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+ Low preparation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00075" y="3757612"/>
            <a:ext cx="5214938" cy="685800"/>
            <a:chOff x="0" y="0"/>
            <a:chExt cx="6953250" cy="914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953250" cy="914400"/>
            </a:xfrm>
            <a:custGeom>
              <a:avLst/>
              <a:gdLst/>
              <a:ahLst/>
              <a:cxnLst/>
              <a:rect l="l" t="t" r="r" b="b"/>
              <a:pathLst>
                <a:path w="6953250" h="914400">
                  <a:moveTo>
                    <a:pt x="0" y="171450"/>
                  </a:moveTo>
                  <a:cubicBezTo>
                    <a:pt x="0" y="76708"/>
                    <a:pt x="76708" y="0"/>
                    <a:pt x="171450" y="0"/>
                  </a:cubicBezTo>
                  <a:lnTo>
                    <a:pt x="6781800" y="0"/>
                  </a:lnTo>
                  <a:cubicBezTo>
                    <a:pt x="6876542" y="0"/>
                    <a:pt x="6953250" y="76708"/>
                    <a:pt x="6953250" y="171450"/>
                  </a:cubicBezTo>
                  <a:lnTo>
                    <a:pt x="6953250" y="742950"/>
                  </a:lnTo>
                  <a:cubicBezTo>
                    <a:pt x="6953250" y="837692"/>
                    <a:pt x="6876542" y="914400"/>
                    <a:pt x="6781800" y="914400"/>
                  </a:cubicBezTo>
                  <a:lnTo>
                    <a:pt x="171450" y="914400"/>
                  </a:lnTo>
                  <a:cubicBezTo>
                    <a:pt x="76708" y="914400"/>
                    <a:pt x="0" y="837692"/>
                    <a:pt x="0" y="742950"/>
                  </a:cubicBezTo>
                  <a:close/>
                </a:path>
              </a:pathLst>
            </a:custGeom>
            <a:solidFill>
              <a:srgbClr val="FBE5E2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871538" y="3933825"/>
            <a:ext cx="4643438" cy="366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+ High stress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600075" y="4686300"/>
            <a:ext cx="5214938" cy="685800"/>
            <a:chOff x="0" y="0"/>
            <a:chExt cx="6953250" cy="914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953250" cy="914400"/>
            </a:xfrm>
            <a:custGeom>
              <a:avLst/>
              <a:gdLst/>
              <a:ahLst/>
              <a:cxnLst/>
              <a:rect l="l" t="t" r="r" b="b"/>
              <a:pathLst>
                <a:path w="6953250" h="914400">
                  <a:moveTo>
                    <a:pt x="0" y="171450"/>
                  </a:moveTo>
                  <a:cubicBezTo>
                    <a:pt x="0" y="76708"/>
                    <a:pt x="76708" y="0"/>
                    <a:pt x="171450" y="0"/>
                  </a:cubicBezTo>
                  <a:lnTo>
                    <a:pt x="6781800" y="0"/>
                  </a:lnTo>
                  <a:cubicBezTo>
                    <a:pt x="6876542" y="0"/>
                    <a:pt x="6953250" y="76708"/>
                    <a:pt x="6953250" y="171450"/>
                  </a:cubicBezTo>
                  <a:lnTo>
                    <a:pt x="6953250" y="742950"/>
                  </a:lnTo>
                  <a:cubicBezTo>
                    <a:pt x="6953250" y="837692"/>
                    <a:pt x="6876542" y="914400"/>
                    <a:pt x="6781800" y="914400"/>
                  </a:cubicBezTo>
                  <a:lnTo>
                    <a:pt x="171450" y="914400"/>
                  </a:lnTo>
                  <a:cubicBezTo>
                    <a:pt x="76708" y="914400"/>
                    <a:pt x="0" y="837692"/>
                    <a:pt x="0" y="742950"/>
                  </a:cubicBezTo>
                  <a:close/>
                </a:path>
              </a:pathLst>
            </a:custGeom>
            <a:solidFill>
              <a:srgbClr val="FBE5E2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871538" y="4862513"/>
            <a:ext cx="4643438" cy="366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+ Peer cheating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00075" y="5614988"/>
            <a:ext cx="5214938" cy="685800"/>
            <a:chOff x="0" y="0"/>
            <a:chExt cx="6953250" cy="914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953250" cy="914400"/>
            </a:xfrm>
            <a:custGeom>
              <a:avLst/>
              <a:gdLst/>
              <a:ahLst/>
              <a:cxnLst/>
              <a:rect l="l" t="t" r="r" b="b"/>
              <a:pathLst>
                <a:path w="6953250" h="914400">
                  <a:moveTo>
                    <a:pt x="0" y="171450"/>
                  </a:moveTo>
                  <a:cubicBezTo>
                    <a:pt x="0" y="76708"/>
                    <a:pt x="76708" y="0"/>
                    <a:pt x="171450" y="0"/>
                  </a:cubicBezTo>
                  <a:lnTo>
                    <a:pt x="6781800" y="0"/>
                  </a:lnTo>
                  <a:cubicBezTo>
                    <a:pt x="6876542" y="0"/>
                    <a:pt x="6953250" y="76708"/>
                    <a:pt x="6953250" y="171450"/>
                  </a:cubicBezTo>
                  <a:lnTo>
                    <a:pt x="6953250" y="742950"/>
                  </a:lnTo>
                  <a:cubicBezTo>
                    <a:pt x="6953250" y="837692"/>
                    <a:pt x="6876542" y="914400"/>
                    <a:pt x="6781800" y="914400"/>
                  </a:cubicBezTo>
                  <a:lnTo>
                    <a:pt x="171450" y="914400"/>
                  </a:lnTo>
                  <a:cubicBezTo>
                    <a:pt x="76708" y="914400"/>
                    <a:pt x="0" y="837692"/>
                    <a:pt x="0" y="742950"/>
                  </a:cubicBezTo>
                  <a:close/>
                </a:path>
              </a:pathLst>
            </a:custGeom>
            <a:solidFill>
              <a:srgbClr val="FBE5E2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871538" y="5791200"/>
            <a:ext cx="4643438" cy="366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+ High opportunity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1901488" y="2828925"/>
            <a:ext cx="5214938" cy="685800"/>
            <a:chOff x="0" y="0"/>
            <a:chExt cx="6953250" cy="9144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953250" cy="914400"/>
            </a:xfrm>
            <a:custGeom>
              <a:avLst/>
              <a:gdLst/>
              <a:ahLst/>
              <a:cxnLst/>
              <a:rect l="l" t="t" r="r" b="b"/>
              <a:pathLst>
                <a:path w="6953250" h="914400">
                  <a:moveTo>
                    <a:pt x="0" y="171450"/>
                  </a:moveTo>
                  <a:cubicBezTo>
                    <a:pt x="0" y="76708"/>
                    <a:pt x="76708" y="0"/>
                    <a:pt x="171450" y="0"/>
                  </a:cubicBezTo>
                  <a:lnTo>
                    <a:pt x="6781800" y="0"/>
                  </a:lnTo>
                  <a:cubicBezTo>
                    <a:pt x="6876542" y="0"/>
                    <a:pt x="6953250" y="76708"/>
                    <a:pt x="6953250" y="171450"/>
                  </a:cubicBezTo>
                  <a:lnTo>
                    <a:pt x="6953250" y="742950"/>
                  </a:lnTo>
                  <a:cubicBezTo>
                    <a:pt x="6953250" y="837692"/>
                    <a:pt x="6876542" y="914400"/>
                    <a:pt x="6781800" y="914400"/>
                  </a:cubicBezTo>
                  <a:lnTo>
                    <a:pt x="171450" y="914400"/>
                  </a:lnTo>
                  <a:cubicBezTo>
                    <a:pt x="76708" y="914400"/>
                    <a:pt x="0" y="837692"/>
                    <a:pt x="0" y="742950"/>
                  </a:cubicBezTo>
                  <a:close/>
                </a:path>
              </a:pathLst>
            </a:custGeom>
            <a:solidFill>
              <a:srgbClr val="E3F3EA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12172950" y="3005137"/>
            <a:ext cx="4643438" cy="366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+ Ethical commitment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1901488" y="3757612"/>
            <a:ext cx="5214938" cy="685800"/>
            <a:chOff x="0" y="0"/>
            <a:chExt cx="6953250" cy="9144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953250" cy="914400"/>
            </a:xfrm>
            <a:custGeom>
              <a:avLst/>
              <a:gdLst/>
              <a:ahLst/>
              <a:cxnLst/>
              <a:rect l="l" t="t" r="r" b="b"/>
              <a:pathLst>
                <a:path w="6953250" h="914400">
                  <a:moveTo>
                    <a:pt x="0" y="171450"/>
                  </a:moveTo>
                  <a:cubicBezTo>
                    <a:pt x="0" y="76708"/>
                    <a:pt x="76708" y="0"/>
                    <a:pt x="171450" y="0"/>
                  </a:cubicBezTo>
                  <a:lnTo>
                    <a:pt x="6781800" y="0"/>
                  </a:lnTo>
                  <a:cubicBezTo>
                    <a:pt x="6876542" y="0"/>
                    <a:pt x="6953250" y="76708"/>
                    <a:pt x="6953250" y="171450"/>
                  </a:cubicBezTo>
                  <a:lnTo>
                    <a:pt x="6953250" y="742950"/>
                  </a:lnTo>
                  <a:cubicBezTo>
                    <a:pt x="6953250" y="837692"/>
                    <a:pt x="6876542" y="914400"/>
                    <a:pt x="6781800" y="914400"/>
                  </a:cubicBezTo>
                  <a:lnTo>
                    <a:pt x="171450" y="914400"/>
                  </a:lnTo>
                  <a:cubicBezTo>
                    <a:pt x="76708" y="914400"/>
                    <a:pt x="0" y="837692"/>
                    <a:pt x="0" y="742950"/>
                  </a:cubicBezTo>
                  <a:close/>
                </a:path>
              </a:pathLst>
            </a:custGeom>
            <a:solidFill>
              <a:srgbClr val="E3F3EA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12172950" y="3933825"/>
            <a:ext cx="4643438" cy="366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+ Academic support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1901488" y="4686300"/>
            <a:ext cx="5214938" cy="685800"/>
            <a:chOff x="0" y="0"/>
            <a:chExt cx="6953250" cy="9144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953250" cy="914400"/>
            </a:xfrm>
            <a:custGeom>
              <a:avLst/>
              <a:gdLst/>
              <a:ahLst/>
              <a:cxnLst/>
              <a:rect l="l" t="t" r="r" b="b"/>
              <a:pathLst>
                <a:path w="6953250" h="914400">
                  <a:moveTo>
                    <a:pt x="0" y="171450"/>
                  </a:moveTo>
                  <a:cubicBezTo>
                    <a:pt x="0" y="76708"/>
                    <a:pt x="76708" y="0"/>
                    <a:pt x="171450" y="0"/>
                  </a:cubicBezTo>
                  <a:lnTo>
                    <a:pt x="6781800" y="0"/>
                  </a:lnTo>
                  <a:cubicBezTo>
                    <a:pt x="6876542" y="0"/>
                    <a:pt x="6953250" y="76708"/>
                    <a:pt x="6953250" y="171450"/>
                  </a:cubicBezTo>
                  <a:lnTo>
                    <a:pt x="6953250" y="742950"/>
                  </a:lnTo>
                  <a:cubicBezTo>
                    <a:pt x="6953250" y="837692"/>
                    <a:pt x="6876542" y="914400"/>
                    <a:pt x="6781800" y="914400"/>
                  </a:cubicBezTo>
                  <a:lnTo>
                    <a:pt x="171450" y="914400"/>
                  </a:lnTo>
                  <a:cubicBezTo>
                    <a:pt x="76708" y="914400"/>
                    <a:pt x="0" y="837692"/>
                    <a:pt x="0" y="742950"/>
                  </a:cubicBezTo>
                  <a:close/>
                </a:path>
              </a:pathLst>
            </a:custGeom>
            <a:solidFill>
              <a:srgbClr val="E3F3EA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12172950" y="4862513"/>
            <a:ext cx="4643438" cy="366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+ Fair monitoring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1901488" y="5614988"/>
            <a:ext cx="5214938" cy="685800"/>
            <a:chOff x="0" y="0"/>
            <a:chExt cx="6953250" cy="9144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953250" cy="914400"/>
            </a:xfrm>
            <a:custGeom>
              <a:avLst/>
              <a:gdLst/>
              <a:ahLst/>
              <a:cxnLst/>
              <a:rect l="l" t="t" r="r" b="b"/>
              <a:pathLst>
                <a:path w="6953250" h="914400">
                  <a:moveTo>
                    <a:pt x="0" y="171450"/>
                  </a:moveTo>
                  <a:cubicBezTo>
                    <a:pt x="0" y="76708"/>
                    <a:pt x="76708" y="0"/>
                    <a:pt x="171450" y="0"/>
                  </a:cubicBezTo>
                  <a:lnTo>
                    <a:pt x="6781800" y="0"/>
                  </a:lnTo>
                  <a:cubicBezTo>
                    <a:pt x="6876542" y="0"/>
                    <a:pt x="6953250" y="76708"/>
                    <a:pt x="6953250" y="171450"/>
                  </a:cubicBezTo>
                  <a:lnTo>
                    <a:pt x="6953250" y="742950"/>
                  </a:lnTo>
                  <a:cubicBezTo>
                    <a:pt x="6953250" y="837692"/>
                    <a:pt x="6876542" y="914400"/>
                    <a:pt x="6781800" y="914400"/>
                  </a:cubicBezTo>
                  <a:lnTo>
                    <a:pt x="171450" y="914400"/>
                  </a:lnTo>
                  <a:cubicBezTo>
                    <a:pt x="76708" y="914400"/>
                    <a:pt x="0" y="837692"/>
                    <a:pt x="0" y="742950"/>
                  </a:cubicBezTo>
                  <a:close/>
                </a:path>
              </a:pathLst>
            </a:custGeom>
            <a:solidFill>
              <a:srgbClr val="E3F3EA"/>
            </a:solidFill>
          </p:spPr>
        </p:sp>
      </p:grpSp>
      <p:sp>
        <p:nvSpPr>
          <p:cNvPr id="30" name="TextBox 30"/>
          <p:cNvSpPr txBox="1"/>
          <p:nvPr/>
        </p:nvSpPr>
        <p:spPr>
          <a:xfrm>
            <a:off x="12172950" y="5791200"/>
            <a:ext cx="4643438" cy="366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+ High perceived risk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6586538" y="3286125"/>
            <a:ext cx="4543425" cy="2628900"/>
            <a:chOff x="0" y="0"/>
            <a:chExt cx="6057900" cy="35052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057900" cy="3505200"/>
            </a:xfrm>
            <a:custGeom>
              <a:avLst/>
              <a:gdLst/>
              <a:ahLst/>
              <a:cxnLst/>
              <a:rect l="l" t="t" r="r" b="b"/>
              <a:pathLst>
                <a:path w="6057900" h="35052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5753100" y="0"/>
                  </a:lnTo>
                  <a:cubicBezTo>
                    <a:pt x="5921502" y="0"/>
                    <a:pt x="6057900" y="136525"/>
                    <a:pt x="6057900" y="304800"/>
                  </a:cubicBezTo>
                  <a:lnTo>
                    <a:pt x="6057900" y="3200400"/>
                  </a:lnTo>
                  <a:cubicBezTo>
                    <a:pt x="6057900" y="3368802"/>
                    <a:pt x="5921375" y="3505200"/>
                    <a:pt x="5753100" y="3505200"/>
                  </a:cubicBezTo>
                  <a:lnTo>
                    <a:pt x="304800" y="3505200"/>
                  </a:lnTo>
                  <a:cubicBezTo>
                    <a:pt x="136398" y="3505200"/>
                    <a:pt x="0" y="3368675"/>
                    <a:pt x="0" y="3200400"/>
                  </a:cubicBezTo>
                  <a:close/>
                </a:path>
              </a:pathLst>
            </a:custGeom>
            <a:solidFill>
              <a:srgbClr val="EAF5FB"/>
            </a:solidFill>
          </p:spPr>
        </p:sp>
      </p:grpSp>
      <p:sp>
        <p:nvSpPr>
          <p:cNvPr id="33" name="TextBox 33"/>
          <p:cNvSpPr txBox="1"/>
          <p:nvPr/>
        </p:nvSpPr>
        <p:spPr>
          <a:xfrm>
            <a:off x="7015162" y="3667125"/>
            <a:ext cx="3686175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5"/>
              </a:lnSpc>
            </a:pPr>
            <a:r>
              <a:rPr lang="en-US" sz="2812" b="1">
                <a:solidFill>
                  <a:srgbClr val="3D8DFF"/>
                </a:solidFill>
                <a:latin typeface="Arial Bold"/>
                <a:ea typeface="Arial Bold"/>
                <a:cs typeface="Arial Bold"/>
                <a:sym typeface="Arial Bold"/>
              </a:rPr>
              <a:t>Student decision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015162" y="4481512"/>
            <a:ext cx="3686175" cy="1090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3"/>
              </a:lnSpc>
            </a:pPr>
            <a:r>
              <a:rPr lang="en-US" sz="2269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P(unauthorized attempt)</a:t>
            </a:r>
          </a:p>
          <a:p>
            <a:pPr algn="ctr">
              <a:lnSpc>
                <a:spcPts val="2723"/>
              </a:lnSpc>
            </a:pPr>
            <a:r>
              <a:rPr lang="en-US" sz="2269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changes with the student's</a:t>
            </a:r>
          </a:p>
          <a:p>
            <a:pPr algn="ctr">
              <a:lnSpc>
                <a:spcPts val="2723"/>
              </a:lnSpc>
            </a:pPr>
            <a:r>
              <a:rPr lang="en-US" sz="2269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current state and context</a:t>
            </a:r>
          </a:p>
        </p:txBody>
      </p:sp>
      <p:sp>
        <p:nvSpPr>
          <p:cNvPr id="35" name="AutoShape 35"/>
          <p:cNvSpPr/>
          <p:nvPr/>
        </p:nvSpPr>
        <p:spPr>
          <a:xfrm rot="2940">
            <a:off x="592931" y="7181850"/>
            <a:ext cx="16659235" cy="0"/>
          </a:xfrm>
          <a:prstGeom prst="line">
            <a:avLst/>
          </a:prstGeom>
          <a:ln w="9525" cap="rnd">
            <a:solidFill>
              <a:srgbClr val="B8BCC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6" name="TextBox 36"/>
          <p:cNvSpPr txBox="1"/>
          <p:nvPr/>
        </p:nvSpPr>
        <p:spPr>
          <a:xfrm>
            <a:off x="600075" y="7577137"/>
            <a:ext cx="2571750" cy="395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 b="1">
                <a:solidFill>
                  <a:srgbClr val="EF766B"/>
                </a:solidFill>
                <a:latin typeface="Arial Bold"/>
                <a:ea typeface="Arial Bold"/>
                <a:cs typeface="Arial Bold"/>
                <a:sym typeface="Arial Bold"/>
              </a:rPr>
              <a:t>Feedback loop 1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314700" y="7567612"/>
            <a:ext cx="13716000" cy="404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A peer succeeds → perceived risk may fall → more attempts may emerge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00075" y="8305800"/>
            <a:ext cx="2571750" cy="395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 b="1">
                <a:solidFill>
                  <a:srgbClr val="51A77A"/>
                </a:solidFill>
                <a:latin typeface="Arial Bold"/>
                <a:ea typeface="Arial Bold"/>
                <a:cs typeface="Arial Bold"/>
                <a:sym typeface="Arial Bold"/>
              </a:rPr>
              <a:t>Feedback loop 2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314700" y="8296275"/>
            <a:ext cx="13716000" cy="404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Early support → preparation rises → stress falls → honest work may increase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00075" y="9063037"/>
            <a:ext cx="16644938" cy="366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5"/>
              </a:lnSpc>
            </a:pPr>
            <a:r>
              <a:rPr lang="en-US" sz="2137" b="1">
                <a:solidFill>
                  <a:srgbClr val="3D8DFF"/>
                </a:solidFill>
                <a:latin typeface="Arial Bold"/>
                <a:ea typeface="Arial Bold"/>
                <a:cs typeface="Arial Bold"/>
                <a:sym typeface="Arial Bold"/>
              </a:rPr>
              <a:t>The weights must be estimated from evidence; they should not be guessed.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0075" y="347663"/>
            <a:ext cx="1000125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1">
                <a:solidFill>
                  <a:srgbClr val="3D8DFF"/>
                </a:solidFill>
                <a:latin typeface="Arial Bold"/>
                <a:ea typeface="Arial Bold"/>
                <a:cs typeface="Arial Bold"/>
                <a:sym typeface="Arial Bold"/>
              </a:rPr>
              <a:t>INTERACTIVE EXPERIMENT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00075" y="690562"/>
            <a:ext cx="16573500" cy="1109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9"/>
              </a:lnSpc>
            </a:pPr>
            <a:r>
              <a:rPr lang="en-US" sz="5175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Which policy would improve integrity most?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887825" y="9491663"/>
            <a:ext cx="8001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575">
                <a:solidFill>
                  <a:srgbClr val="5D6674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00075" y="2928938"/>
            <a:ext cx="5214938" cy="2243138"/>
            <a:chOff x="0" y="0"/>
            <a:chExt cx="6953250" cy="29908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953250" cy="2990850"/>
            </a:xfrm>
            <a:custGeom>
              <a:avLst/>
              <a:gdLst/>
              <a:ahLst/>
              <a:cxnLst/>
              <a:rect l="l" t="t" r="r" b="b"/>
              <a:pathLst>
                <a:path w="6953250" h="2990850">
                  <a:moveTo>
                    <a:pt x="0" y="247650"/>
                  </a:moveTo>
                  <a:cubicBezTo>
                    <a:pt x="0" y="110871"/>
                    <a:pt x="110871" y="0"/>
                    <a:pt x="247650" y="0"/>
                  </a:cubicBezTo>
                  <a:lnTo>
                    <a:pt x="6705600" y="0"/>
                  </a:lnTo>
                  <a:cubicBezTo>
                    <a:pt x="6842379" y="0"/>
                    <a:pt x="6953250" y="110871"/>
                    <a:pt x="6953250" y="247650"/>
                  </a:cubicBezTo>
                  <a:lnTo>
                    <a:pt x="6953250" y="2743200"/>
                  </a:lnTo>
                  <a:cubicBezTo>
                    <a:pt x="6953250" y="2879979"/>
                    <a:pt x="6842379" y="2990850"/>
                    <a:pt x="6705600" y="2990850"/>
                  </a:cubicBezTo>
                  <a:lnTo>
                    <a:pt x="247650" y="2990850"/>
                  </a:lnTo>
                  <a:cubicBezTo>
                    <a:pt x="110871" y="2990850"/>
                    <a:pt x="0" y="2879979"/>
                    <a:pt x="0" y="274320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885825" y="3214688"/>
            <a:ext cx="642938" cy="642938"/>
            <a:chOff x="0" y="0"/>
            <a:chExt cx="857250" cy="857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57250" cy="857250"/>
            </a:xfrm>
            <a:custGeom>
              <a:avLst/>
              <a:gdLst/>
              <a:ahLst/>
              <a:cxnLst/>
              <a:rect l="l" t="t" r="r" b="b"/>
              <a:pathLst>
                <a:path w="857250" h="857250">
                  <a:moveTo>
                    <a:pt x="0" y="428625"/>
                  </a:moveTo>
                  <a:cubicBezTo>
                    <a:pt x="0" y="191897"/>
                    <a:pt x="191897" y="0"/>
                    <a:pt x="428625" y="0"/>
                  </a:cubicBezTo>
                  <a:cubicBezTo>
                    <a:pt x="665353" y="0"/>
                    <a:pt x="857250" y="191897"/>
                    <a:pt x="857250" y="428625"/>
                  </a:cubicBezTo>
                  <a:cubicBezTo>
                    <a:pt x="857250" y="665353"/>
                    <a:pt x="665353" y="857250"/>
                    <a:pt x="428625" y="857250"/>
                  </a:cubicBezTo>
                  <a:cubicBezTo>
                    <a:pt x="191897" y="857250"/>
                    <a:pt x="0" y="665353"/>
                    <a:pt x="0" y="42862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857250" cy="876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10182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771650" y="3262313"/>
            <a:ext cx="3643312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Baseline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14400" y="4100512"/>
            <a:ext cx="4586288" cy="685800"/>
            <a:chOff x="0" y="0"/>
            <a:chExt cx="6115050" cy="914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115050" cy="914400"/>
            </a:xfrm>
            <a:custGeom>
              <a:avLst/>
              <a:gdLst/>
              <a:ahLst/>
              <a:cxnLst/>
              <a:rect l="l" t="t" r="r" b="b"/>
              <a:pathLst>
                <a:path w="6115050" h="914400">
                  <a:moveTo>
                    <a:pt x="0" y="0"/>
                  </a:moveTo>
                  <a:lnTo>
                    <a:pt x="6115050" y="0"/>
                  </a:lnTo>
                  <a:lnTo>
                    <a:pt x="611505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0306" b="-80306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611505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30"/>
                </a:lnSpc>
              </a:pPr>
              <a:r>
                <a:rPr lang="en-US" sz="2025">
                  <a:solidFill>
                    <a:srgbClr val="5D6674"/>
                  </a:solidFill>
                  <a:latin typeface="Arial"/>
                  <a:ea typeface="Arial"/>
                  <a:cs typeface="Arial"/>
                  <a:sym typeface="Arial"/>
                </a:rPr>
                <a:t>Current teaching, support and monitoring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272212" y="2928938"/>
            <a:ext cx="5214938" cy="2243138"/>
            <a:chOff x="0" y="0"/>
            <a:chExt cx="6953250" cy="29908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953250" cy="2990850"/>
            </a:xfrm>
            <a:custGeom>
              <a:avLst/>
              <a:gdLst/>
              <a:ahLst/>
              <a:cxnLst/>
              <a:rect l="l" t="t" r="r" b="b"/>
              <a:pathLst>
                <a:path w="6953250" h="2990850">
                  <a:moveTo>
                    <a:pt x="0" y="247650"/>
                  </a:moveTo>
                  <a:cubicBezTo>
                    <a:pt x="0" y="110871"/>
                    <a:pt x="110871" y="0"/>
                    <a:pt x="247650" y="0"/>
                  </a:cubicBezTo>
                  <a:lnTo>
                    <a:pt x="6705600" y="0"/>
                  </a:lnTo>
                  <a:cubicBezTo>
                    <a:pt x="6842379" y="0"/>
                    <a:pt x="6953250" y="110871"/>
                    <a:pt x="6953250" y="247650"/>
                  </a:cubicBezTo>
                  <a:lnTo>
                    <a:pt x="6953250" y="2743200"/>
                  </a:lnTo>
                  <a:cubicBezTo>
                    <a:pt x="6953250" y="2879979"/>
                    <a:pt x="6842379" y="2990850"/>
                    <a:pt x="6705600" y="2990850"/>
                  </a:cubicBezTo>
                  <a:lnTo>
                    <a:pt x="247650" y="2990850"/>
                  </a:lnTo>
                  <a:cubicBezTo>
                    <a:pt x="110871" y="2990850"/>
                    <a:pt x="0" y="2879979"/>
                    <a:pt x="0" y="2743200"/>
                  </a:cubicBezTo>
                  <a:close/>
                </a:path>
              </a:pathLst>
            </a:custGeom>
            <a:solidFill>
              <a:srgbClr val="FBE5E2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6557962" y="3214688"/>
            <a:ext cx="642938" cy="642938"/>
            <a:chOff x="0" y="0"/>
            <a:chExt cx="857250" cy="8572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57250" cy="857250"/>
            </a:xfrm>
            <a:custGeom>
              <a:avLst/>
              <a:gdLst/>
              <a:ahLst/>
              <a:cxnLst/>
              <a:rect l="l" t="t" r="r" b="b"/>
              <a:pathLst>
                <a:path w="857250" h="857250">
                  <a:moveTo>
                    <a:pt x="0" y="428625"/>
                  </a:moveTo>
                  <a:cubicBezTo>
                    <a:pt x="0" y="191897"/>
                    <a:pt x="191897" y="0"/>
                    <a:pt x="428625" y="0"/>
                  </a:cubicBezTo>
                  <a:cubicBezTo>
                    <a:pt x="665353" y="0"/>
                    <a:pt x="857250" y="191897"/>
                    <a:pt x="857250" y="428625"/>
                  </a:cubicBezTo>
                  <a:cubicBezTo>
                    <a:pt x="857250" y="665353"/>
                    <a:pt x="665353" y="857250"/>
                    <a:pt x="428625" y="857250"/>
                  </a:cubicBezTo>
                  <a:cubicBezTo>
                    <a:pt x="191897" y="857250"/>
                    <a:pt x="0" y="665353"/>
                    <a:pt x="0" y="42862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857250" cy="876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EF766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443788" y="3262313"/>
            <a:ext cx="3643312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1">
                <a:solidFill>
                  <a:srgbClr val="EF766B"/>
                </a:solidFill>
                <a:latin typeface="Arial Bold"/>
                <a:ea typeface="Arial Bold"/>
                <a:cs typeface="Arial Bold"/>
                <a:sym typeface="Arial Bold"/>
              </a:rPr>
              <a:t>Strict monitoring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6586538" y="4100512"/>
            <a:ext cx="4586288" cy="685800"/>
            <a:chOff x="0" y="0"/>
            <a:chExt cx="6115050" cy="914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115050" cy="914400"/>
            </a:xfrm>
            <a:custGeom>
              <a:avLst/>
              <a:gdLst/>
              <a:ahLst/>
              <a:cxnLst/>
              <a:rect l="l" t="t" r="r" b="b"/>
              <a:pathLst>
                <a:path w="6115050" h="914400">
                  <a:moveTo>
                    <a:pt x="0" y="0"/>
                  </a:moveTo>
                  <a:lnTo>
                    <a:pt x="6115050" y="0"/>
                  </a:lnTo>
                  <a:lnTo>
                    <a:pt x="611505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0306" b="-80306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611505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30"/>
                </a:lnSpc>
              </a:pPr>
              <a:r>
                <a:rPr lang="en-US" sz="2025">
                  <a:solidFill>
                    <a:srgbClr val="5D6674"/>
                  </a:solidFill>
                  <a:latin typeface="Arial"/>
                  <a:ea typeface="Arial"/>
                  <a:cs typeface="Arial"/>
                  <a:sym typeface="Arial"/>
                </a:rPr>
                <a:t>Opportunity ↓ · perceived risk ↑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1944350" y="2928938"/>
            <a:ext cx="5214938" cy="2243138"/>
            <a:chOff x="0" y="0"/>
            <a:chExt cx="6953250" cy="299085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953250" cy="2990850"/>
            </a:xfrm>
            <a:custGeom>
              <a:avLst/>
              <a:gdLst/>
              <a:ahLst/>
              <a:cxnLst/>
              <a:rect l="l" t="t" r="r" b="b"/>
              <a:pathLst>
                <a:path w="6953250" h="2990850">
                  <a:moveTo>
                    <a:pt x="0" y="247650"/>
                  </a:moveTo>
                  <a:cubicBezTo>
                    <a:pt x="0" y="110871"/>
                    <a:pt x="110871" y="0"/>
                    <a:pt x="247650" y="0"/>
                  </a:cubicBezTo>
                  <a:lnTo>
                    <a:pt x="6705600" y="0"/>
                  </a:lnTo>
                  <a:cubicBezTo>
                    <a:pt x="6842379" y="0"/>
                    <a:pt x="6953250" y="110871"/>
                    <a:pt x="6953250" y="247650"/>
                  </a:cubicBezTo>
                  <a:lnTo>
                    <a:pt x="6953250" y="2743200"/>
                  </a:lnTo>
                  <a:cubicBezTo>
                    <a:pt x="6953250" y="2879979"/>
                    <a:pt x="6842379" y="2990850"/>
                    <a:pt x="6705600" y="2990850"/>
                  </a:cubicBezTo>
                  <a:lnTo>
                    <a:pt x="247650" y="2990850"/>
                  </a:lnTo>
                  <a:cubicBezTo>
                    <a:pt x="110871" y="2990850"/>
                    <a:pt x="0" y="2879979"/>
                    <a:pt x="0" y="2743200"/>
                  </a:cubicBezTo>
                  <a:close/>
                </a:path>
              </a:pathLst>
            </a:custGeom>
            <a:solidFill>
              <a:srgbClr val="E3F3EA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2230100" y="3214688"/>
            <a:ext cx="642938" cy="642938"/>
            <a:chOff x="0" y="0"/>
            <a:chExt cx="857250" cy="85725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57250" cy="857250"/>
            </a:xfrm>
            <a:custGeom>
              <a:avLst/>
              <a:gdLst/>
              <a:ahLst/>
              <a:cxnLst/>
              <a:rect l="l" t="t" r="r" b="b"/>
              <a:pathLst>
                <a:path w="857250" h="857250">
                  <a:moveTo>
                    <a:pt x="0" y="428625"/>
                  </a:moveTo>
                  <a:cubicBezTo>
                    <a:pt x="0" y="191897"/>
                    <a:pt x="191897" y="0"/>
                    <a:pt x="428625" y="0"/>
                  </a:cubicBezTo>
                  <a:cubicBezTo>
                    <a:pt x="665353" y="0"/>
                    <a:pt x="857250" y="191897"/>
                    <a:pt x="857250" y="428625"/>
                  </a:cubicBezTo>
                  <a:cubicBezTo>
                    <a:pt x="857250" y="665353"/>
                    <a:pt x="665353" y="857250"/>
                    <a:pt x="428625" y="857250"/>
                  </a:cubicBezTo>
                  <a:cubicBezTo>
                    <a:pt x="191897" y="857250"/>
                    <a:pt x="0" y="665353"/>
                    <a:pt x="0" y="42862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19050"/>
              <a:ext cx="857250" cy="876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51A7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3115925" y="3262313"/>
            <a:ext cx="3643312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1">
                <a:solidFill>
                  <a:srgbClr val="51A77A"/>
                </a:solidFill>
                <a:latin typeface="Arial Bold"/>
                <a:ea typeface="Arial Bold"/>
                <a:cs typeface="Arial Bold"/>
                <a:sym typeface="Arial Bold"/>
              </a:rPr>
              <a:t>Academic support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2258675" y="4100512"/>
            <a:ext cx="4586288" cy="685800"/>
            <a:chOff x="0" y="0"/>
            <a:chExt cx="6115050" cy="9144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115050" cy="914400"/>
            </a:xfrm>
            <a:custGeom>
              <a:avLst/>
              <a:gdLst/>
              <a:ahLst/>
              <a:cxnLst/>
              <a:rect l="l" t="t" r="r" b="b"/>
              <a:pathLst>
                <a:path w="6115050" h="914400">
                  <a:moveTo>
                    <a:pt x="0" y="0"/>
                  </a:moveTo>
                  <a:lnTo>
                    <a:pt x="6115050" y="0"/>
                  </a:lnTo>
                  <a:lnTo>
                    <a:pt x="611505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0306" b="-80306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611505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30"/>
                </a:lnSpc>
              </a:pPr>
              <a:r>
                <a:rPr lang="en-US" sz="2025">
                  <a:solidFill>
                    <a:srgbClr val="5D6674"/>
                  </a:solidFill>
                  <a:latin typeface="Arial"/>
                  <a:ea typeface="Arial"/>
                  <a:cs typeface="Arial"/>
                  <a:sym typeface="Arial"/>
                </a:rPr>
                <a:t>Preparation ↑ · stress ↓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0075" y="5700712"/>
            <a:ext cx="5214938" cy="2243138"/>
            <a:chOff x="0" y="0"/>
            <a:chExt cx="6953250" cy="299085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953250" cy="2990850"/>
            </a:xfrm>
            <a:custGeom>
              <a:avLst/>
              <a:gdLst/>
              <a:ahLst/>
              <a:cxnLst/>
              <a:rect l="l" t="t" r="r" b="b"/>
              <a:pathLst>
                <a:path w="6953250" h="2990850">
                  <a:moveTo>
                    <a:pt x="0" y="247650"/>
                  </a:moveTo>
                  <a:cubicBezTo>
                    <a:pt x="0" y="110871"/>
                    <a:pt x="110871" y="0"/>
                    <a:pt x="247650" y="0"/>
                  </a:cubicBezTo>
                  <a:lnTo>
                    <a:pt x="6705600" y="0"/>
                  </a:lnTo>
                  <a:cubicBezTo>
                    <a:pt x="6842379" y="0"/>
                    <a:pt x="6953250" y="110871"/>
                    <a:pt x="6953250" y="247650"/>
                  </a:cubicBezTo>
                  <a:lnTo>
                    <a:pt x="6953250" y="2743200"/>
                  </a:lnTo>
                  <a:cubicBezTo>
                    <a:pt x="6953250" y="2879979"/>
                    <a:pt x="6842379" y="2990850"/>
                    <a:pt x="6705600" y="2990850"/>
                  </a:cubicBezTo>
                  <a:lnTo>
                    <a:pt x="247650" y="2990850"/>
                  </a:lnTo>
                  <a:cubicBezTo>
                    <a:pt x="110871" y="2990850"/>
                    <a:pt x="0" y="2879979"/>
                    <a:pt x="0" y="2743200"/>
                  </a:cubicBezTo>
                  <a:close/>
                </a:path>
              </a:pathLst>
            </a:custGeom>
            <a:solidFill>
              <a:srgbClr val="FFF4D8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885825" y="5986462"/>
            <a:ext cx="642938" cy="642938"/>
            <a:chOff x="0" y="0"/>
            <a:chExt cx="857250" cy="85725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57250" cy="857250"/>
            </a:xfrm>
            <a:custGeom>
              <a:avLst/>
              <a:gdLst/>
              <a:ahLst/>
              <a:cxnLst/>
              <a:rect l="l" t="t" r="r" b="b"/>
              <a:pathLst>
                <a:path w="857250" h="857250">
                  <a:moveTo>
                    <a:pt x="0" y="428625"/>
                  </a:moveTo>
                  <a:cubicBezTo>
                    <a:pt x="0" y="191897"/>
                    <a:pt x="191897" y="0"/>
                    <a:pt x="428625" y="0"/>
                  </a:cubicBezTo>
                  <a:cubicBezTo>
                    <a:pt x="665353" y="0"/>
                    <a:pt x="857250" y="191897"/>
                    <a:pt x="857250" y="428625"/>
                  </a:cubicBezTo>
                  <a:cubicBezTo>
                    <a:pt x="857250" y="665353"/>
                    <a:pt x="665353" y="857250"/>
                    <a:pt x="428625" y="857250"/>
                  </a:cubicBezTo>
                  <a:cubicBezTo>
                    <a:pt x="191897" y="857250"/>
                    <a:pt x="0" y="665353"/>
                    <a:pt x="0" y="42862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19050"/>
              <a:ext cx="857250" cy="876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10182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771650" y="6034087"/>
            <a:ext cx="3643312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Counselling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914400" y="6872288"/>
            <a:ext cx="4586288" cy="685800"/>
            <a:chOff x="0" y="0"/>
            <a:chExt cx="6115050" cy="9144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6115050" cy="914400"/>
            </a:xfrm>
            <a:custGeom>
              <a:avLst/>
              <a:gdLst/>
              <a:ahLst/>
              <a:cxnLst/>
              <a:rect l="l" t="t" r="r" b="b"/>
              <a:pathLst>
                <a:path w="6115050" h="914400">
                  <a:moveTo>
                    <a:pt x="0" y="0"/>
                  </a:moveTo>
                  <a:lnTo>
                    <a:pt x="6115050" y="0"/>
                  </a:lnTo>
                  <a:lnTo>
                    <a:pt x="611505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0306" b="-80306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9525"/>
              <a:ext cx="611505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30"/>
                </a:lnSpc>
              </a:pPr>
              <a:r>
                <a:rPr lang="en-US" sz="2025">
                  <a:solidFill>
                    <a:srgbClr val="5D6674"/>
                  </a:solidFill>
                  <a:latin typeface="Arial"/>
                  <a:ea typeface="Arial"/>
                  <a:cs typeface="Arial"/>
                  <a:sym typeface="Arial"/>
                </a:rPr>
                <a:t>Stress and pressure ↓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272212" y="5700712"/>
            <a:ext cx="5214938" cy="2243138"/>
            <a:chOff x="0" y="0"/>
            <a:chExt cx="6953250" cy="299085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6953250" cy="2990850"/>
            </a:xfrm>
            <a:custGeom>
              <a:avLst/>
              <a:gdLst/>
              <a:ahLst/>
              <a:cxnLst/>
              <a:rect l="l" t="t" r="r" b="b"/>
              <a:pathLst>
                <a:path w="6953250" h="2990850">
                  <a:moveTo>
                    <a:pt x="0" y="247650"/>
                  </a:moveTo>
                  <a:cubicBezTo>
                    <a:pt x="0" y="110871"/>
                    <a:pt x="110871" y="0"/>
                    <a:pt x="247650" y="0"/>
                  </a:cubicBezTo>
                  <a:lnTo>
                    <a:pt x="6705600" y="0"/>
                  </a:lnTo>
                  <a:cubicBezTo>
                    <a:pt x="6842379" y="0"/>
                    <a:pt x="6953250" y="110871"/>
                    <a:pt x="6953250" y="247650"/>
                  </a:cubicBezTo>
                  <a:lnTo>
                    <a:pt x="6953250" y="2743200"/>
                  </a:lnTo>
                  <a:cubicBezTo>
                    <a:pt x="6953250" y="2879979"/>
                    <a:pt x="6842379" y="2990850"/>
                    <a:pt x="6705600" y="2990850"/>
                  </a:cubicBezTo>
                  <a:lnTo>
                    <a:pt x="247650" y="2990850"/>
                  </a:lnTo>
                  <a:cubicBezTo>
                    <a:pt x="110871" y="2990850"/>
                    <a:pt x="0" y="2879979"/>
                    <a:pt x="0" y="2743200"/>
                  </a:cubicBezTo>
                  <a:close/>
                </a:path>
              </a:pathLst>
            </a:custGeom>
            <a:solidFill>
              <a:srgbClr val="F1ECFA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6557962" y="5986462"/>
            <a:ext cx="642938" cy="642938"/>
            <a:chOff x="0" y="0"/>
            <a:chExt cx="857250" cy="85725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57250" cy="857250"/>
            </a:xfrm>
            <a:custGeom>
              <a:avLst/>
              <a:gdLst/>
              <a:ahLst/>
              <a:cxnLst/>
              <a:rect l="l" t="t" r="r" b="b"/>
              <a:pathLst>
                <a:path w="857250" h="857250">
                  <a:moveTo>
                    <a:pt x="0" y="428625"/>
                  </a:moveTo>
                  <a:cubicBezTo>
                    <a:pt x="0" y="191897"/>
                    <a:pt x="191897" y="0"/>
                    <a:pt x="428625" y="0"/>
                  </a:cubicBezTo>
                  <a:cubicBezTo>
                    <a:pt x="665353" y="0"/>
                    <a:pt x="857250" y="191897"/>
                    <a:pt x="857250" y="428625"/>
                  </a:cubicBezTo>
                  <a:cubicBezTo>
                    <a:pt x="857250" y="665353"/>
                    <a:pt x="665353" y="857250"/>
                    <a:pt x="428625" y="857250"/>
                  </a:cubicBezTo>
                  <a:cubicBezTo>
                    <a:pt x="191897" y="857250"/>
                    <a:pt x="0" y="665353"/>
                    <a:pt x="0" y="42862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0" y="-19050"/>
              <a:ext cx="857250" cy="876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8C6FD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7443788" y="6034087"/>
            <a:ext cx="3643312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1">
                <a:solidFill>
                  <a:srgbClr val="8C6FD1"/>
                </a:solidFill>
                <a:latin typeface="Arial Bold"/>
                <a:ea typeface="Arial Bold"/>
                <a:cs typeface="Arial Bold"/>
                <a:sym typeface="Arial Bold"/>
              </a:rPr>
              <a:t>Peer mentoring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6586538" y="6872288"/>
            <a:ext cx="4586288" cy="685800"/>
            <a:chOff x="0" y="0"/>
            <a:chExt cx="6115050" cy="9144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6115050" cy="914400"/>
            </a:xfrm>
            <a:custGeom>
              <a:avLst/>
              <a:gdLst/>
              <a:ahLst/>
              <a:cxnLst/>
              <a:rect l="l" t="t" r="r" b="b"/>
              <a:pathLst>
                <a:path w="6115050" h="914400">
                  <a:moveTo>
                    <a:pt x="0" y="0"/>
                  </a:moveTo>
                  <a:lnTo>
                    <a:pt x="6115050" y="0"/>
                  </a:lnTo>
                  <a:lnTo>
                    <a:pt x="611505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0306" b="-80306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9525"/>
              <a:ext cx="611505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30"/>
                </a:lnSpc>
              </a:pPr>
              <a:r>
                <a:rPr lang="en-US" sz="2025">
                  <a:solidFill>
                    <a:srgbClr val="5D6674"/>
                  </a:solidFill>
                  <a:latin typeface="Arial"/>
                  <a:ea typeface="Arial"/>
                  <a:cs typeface="Arial"/>
                  <a:sym typeface="Arial"/>
                </a:rPr>
                <a:t>Honest norm and ethics ↑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1944350" y="5700712"/>
            <a:ext cx="5214938" cy="2243138"/>
            <a:chOff x="0" y="0"/>
            <a:chExt cx="6953250" cy="299085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6953250" cy="2990850"/>
            </a:xfrm>
            <a:custGeom>
              <a:avLst/>
              <a:gdLst/>
              <a:ahLst/>
              <a:cxnLst/>
              <a:rect l="l" t="t" r="r" b="b"/>
              <a:pathLst>
                <a:path w="6953250" h="2990850">
                  <a:moveTo>
                    <a:pt x="0" y="247650"/>
                  </a:moveTo>
                  <a:cubicBezTo>
                    <a:pt x="0" y="110871"/>
                    <a:pt x="110871" y="0"/>
                    <a:pt x="247650" y="0"/>
                  </a:cubicBezTo>
                  <a:lnTo>
                    <a:pt x="6705600" y="0"/>
                  </a:lnTo>
                  <a:cubicBezTo>
                    <a:pt x="6842379" y="0"/>
                    <a:pt x="6953250" y="110871"/>
                    <a:pt x="6953250" y="247650"/>
                  </a:cubicBezTo>
                  <a:lnTo>
                    <a:pt x="6953250" y="2743200"/>
                  </a:lnTo>
                  <a:cubicBezTo>
                    <a:pt x="6953250" y="2879979"/>
                    <a:pt x="6842379" y="2990850"/>
                    <a:pt x="6705600" y="2990850"/>
                  </a:cubicBezTo>
                  <a:lnTo>
                    <a:pt x="247650" y="2990850"/>
                  </a:lnTo>
                  <a:cubicBezTo>
                    <a:pt x="110871" y="2990850"/>
                    <a:pt x="0" y="2879979"/>
                    <a:pt x="0" y="2743200"/>
                  </a:cubicBezTo>
                  <a:close/>
                </a:path>
              </a:pathLst>
            </a:custGeom>
            <a:solidFill>
              <a:srgbClr val="EAF5FB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12230100" y="5986462"/>
            <a:ext cx="642938" cy="642938"/>
            <a:chOff x="0" y="0"/>
            <a:chExt cx="857250" cy="85725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857250" cy="857250"/>
            </a:xfrm>
            <a:custGeom>
              <a:avLst/>
              <a:gdLst/>
              <a:ahLst/>
              <a:cxnLst/>
              <a:rect l="l" t="t" r="r" b="b"/>
              <a:pathLst>
                <a:path w="857250" h="857250">
                  <a:moveTo>
                    <a:pt x="0" y="428625"/>
                  </a:moveTo>
                  <a:cubicBezTo>
                    <a:pt x="0" y="191897"/>
                    <a:pt x="191897" y="0"/>
                    <a:pt x="428625" y="0"/>
                  </a:cubicBezTo>
                  <a:cubicBezTo>
                    <a:pt x="665353" y="0"/>
                    <a:pt x="857250" y="191897"/>
                    <a:pt x="857250" y="428625"/>
                  </a:cubicBezTo>
                  <a:cubicBezTo>
                    <a:pt x="857250" y="665353"/>
                    <a:pt x="665353" y="857250"/>
                    <a:pt x="428625" y="857250"/>
                  </a:cubicBezTo>
                  <a:cubicBezTo>
                    <a:pt x="191897" y="857250"/>
                    <a:pt x="0" y="665353"/>
                    <a:pt x="0" y="42862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5" name="TextBox 55"/>
            <p:cNvSpPr txBox="1"/>
            <p:nvPr/>
          </p:nvSpPr>
          <p:spPr>
            <a:xfrm>
              <a:off x="0" y="-19050"/>
              <a:ext cx="857250" cy="876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3D8D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13115925" y="6034087"/>
            <a:ext cx="3643312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1">
                <a:solidFill>
                  <a:srgbClr val="3D8DFF"/>
                </a:solidFill>
                <a:latin typeface="Arial Bold"/>
                <a:ea typeface="Arial Bold"/>
                <a:cs typeface="Arial Bold"/>
                <a:sym typeface="Arial Bold"/>
              </a:rPr>
              <a:t>Combined policy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12258675" y="6872288"/>
            <a:ext cx="4586288" cy="685800"/>
            <a:chOff x="0" y="0"/>
            <a:chExt cx="6115050" cy="91440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6115050" cy="914400"/>
            </a:xfrm>
            <a:custGeom>
              <a:avLst/>
              <a:gdLst/>
              <a:ahLst/>
              <a:cxnLst/>
              <a:rect l="l" t="t" r="r" b="b"/>
              <a:pathLst>
                <a:path w="6115050" h="914400">
                  <a:moveTo>
                    <a:pt x="0" y="0"/>
                  </a:moveTo>
                  <a:lnTo>
                    <a:pt x="6115050" y="0"/>
                  </a:lnTo>
                  <a:lnTo>
                    <a:pt x="611505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0306" b="-80306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9525"/>
              <a:ext cx="611505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30"/>
                </a:lnSpc>
              </a:pPr>
              <a:r>
                <a:rPr lang="en-US" sz="2025">
                  <a:solidFill>
                    <a:srgbClr val="5D6674"/>
                  </a:solidFill>
                  <a:latin typeface="Arial"/>
                  <a:ea typeface="Arial"/>
                  <a:cs typeface="Arial"/>
                  <a:sym typeface="Arial"/>
                </a:rPr>
                <a:t>Support + fair monitoring + counselling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00075" y="8743950"/>
            <a:ext cx="16644938" cy="614362"/>
            <a:chOff x="0" y="0"/>
            <a:chExt cx="22193250" cy="81915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22193250" cy="819150"/>
            </a:xfrm>
            <a:custGeom>
              <a:avLst/>
              <a:gdLst/>
              <a:ahLst/>
              <a:cxnLst/>
              <a:rect l="l" t="t" r="r" b="b"/>
              <a:pathLst>
                <a:path w="22193250" h="81915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22040850" y="0"/>
                  </a:lnTo>
                  <a:cubicBezTo>
                    <a:pt x="22125051" y="0"/>
                    <a:pt x="22193250" y="68199"/>
                    <a:pt x="22193250" y="152400"/>
                  </a:cubicBezTo>
                  <a:lnTo>
                    <a:pt x="22193250" y="666750"/>
                  </a:lnTo>
                  <a:cubicBezTo>
                    <a:pt x="22193250" y="750951"/>
                    <a:pt x="22125051" y="819150"/>
                    <a:pt x="22040850" y="819150"/>
                  </a:cubicBezTo>
                  <a:lnTo>
                    <a:pt x="152400" y="819150"/>
                  </a:lnTo>
                  <a:cubicBezTo>
                    <a:pt x="68199" y="819150"/>
                    <a:pt x="0" y="750951"/>
                    <a:pt x="0" y="66675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id="62" name="TextBox 62"/>
          <p:cNvSpPr txBox="1"/>
          <p:nvPr/>
        </p:nvSpPr>
        <p:spPr>
          <a:xfrm>
            <a:off x="914400" y="8877300"/>
            <a:ext cx="1600200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74"/>
              </a:lnSpc>
            </a:pPr>
            <a:r>
              <a:rPr lang="en-US" sz="2062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Best policy is not only ‘fewest attempts’: also check learning, stress, fairness, trust and cost.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0075" y="347663"/>
            <a:ext cx="1000125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1">
                <a:solidFill>
                  <a:srgbClr val="3D8DFF"/>
                </a:solidFill>
                <a:latin typeface="Arial Bold"/>
                <a:ea typeface="Arial Bold"/>
                <a:cs typeface="Arial Bold"/>
                <a:sym typeface="Arial Bold"/>
              </a:rPr>
              <a:t>VALIDATION PLAN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00075" y="700087"/>
            <a:ext cx="16573500" cy="11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47"/>
              </a:lnSpc>
            </a:pPr>
            <a:r>
              <a:rPr lang="en-US" sz="5039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A useful model needs evidence and privacy protection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887825" y="9491663"/>
            <a:ext cx="8001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575">
                <a:solidFill>
                  <a:srgbClr val="5D6674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00075" y="2314575"/>
            <a:ext cx="714375" cy="714375"/>
            <a:chOff x="0" y="0"/>
            <a:chExt cx="952500" cy="9525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52500" cy="952500"/>
            </a:xfrm>
            <a:custGeom>
              <a:avLst/>
              <a:gdLst/>
              <a:ahLst/>
              <a:cxnLst/>
              <a:rect l="l" t="t" r="r" b="b"/>
              <a:pathLst>
                <a:path w="952500" h="952500">
                  <a:moveTo>
                    <a:pt x="0" y="476250"/>
                  </a:moveTo>
                  <a:cubicBezTo>
                    <a:pt x="0" y="213233"/>
                    <a:pt x="213233" y="0"/>
                    <a:pt x="476250" y="0"/>
                  </a:cubicBezTo>
                  <a:cubicBezTo>
                    <a:pt x="739267" y="0"/>
                    <a:pt x="952500" y="213233"/>
                    <a:pt x="952500" y="476250"/>
                  </a:cubicBezTo>
                  <a:cubicBezTo>
                    <a:pt x="952500" y="739267"/>
                    <a:pt x="739267" y="952500"/>
                    <a:pt x="476250" y="952500"/>
                  </a:cubicBezTo>
                  <a:cubicBezTo>
                    <a:pt x="213233" y="952500"/>
                    <a:pt x="0" y="739267"/>
                    <a:pt x="0" y="476250"/>
                  </a:cubicBezTo>
                  <a:close/>
                </a:path>
              </a:pathLst>
            </a:custGeom>
            <a:solidFill>
              <a:srgbClr val="EAF5F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952500" cy="962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5"/>
                </a:lnSpc>
              </a:pPr>
              <a:r>
                <a:rPr lang="en-US" sz="2362" b="1">
                  <a:solidFill>
                    <a:srgbClr val="3D8D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00075" y="3295650"/>
            <a:ext cx="3571875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 b="1">
                <a:solidFill>
                  <a:srgbClr val="3D8DFF"/>
                </a:solidFill>
                <a:latin typeface="Arial Bold"/>
                <a:ea typeface="Arial Bold"/>
                <a:cs typeface="Arial Bold"/>
                <a:sym typeface="Arial Bold"/>
              </a:rPr>
              <a:t>Collect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00075" y="3981450"/>
            <a:ext cx="3571875" cy="187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2025">
                <a:solidFill>
                  <a:srgbClr val="5D6674"/>
                </a:solidFill>
                <a:latin typeface="Arial"/>
                <a:ea typeface="Arial"/>
                <a:cs typeface="Arial"/>
                <a:sym typeface="Arial"/>
              </a:rPr>
              <a:t>Anonymous surveys</a:t>
            </a:r>
          </a:p>
          <a:p>
            <a:pPr algn="l">
              <a:lnSpc>
                <a:spcPts val="2527"/>
              </a:lnSpc>
            </a:pPr>
            <a:r>
              <a:rPr lang="en-US" sz="2025">
                <a:solidFill>
                  <a:srgbClr val="5D6674"/>
                </a:solidFill>
                <a:latin typeface="Arial"/>
                <a:ea typeface="Arial"/>
                <a:cs typeface="Arial"/>
                <a:sym typeface="Arial"/>
              </a:rPr>
              <a:t>Past misconduct counts</a:t>
            </a:r>
          </a:p>
          <a:p>
            <a:pPr algn="l">
              <a:lnSpc>
                <a:spcPts val="2527"/>
              </a:lnSpc>
            </a:pPr>
            <a:r>
              <a:rPr lang="en-US" sz="2025">
                <a:solidFill>
                  <a:srgbClr val="5D6674"/>
                </a:solidFill>
                <a:latin typeface="Arial"/>
                <a:ea typeface="Arial"/>
                <a:cs typeface="Arial"/>
                <a:sym typeface="Arial"/>
              </a:rPr>
              <a:t>Marks and attendance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4772025" y="2314575"/>
            <a:ext cx="714375" cy="714375"/>
            <a:chOff x="0" y="0"/>
            <a:chExt cx="952500" cy="9525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52500" cy="952500"/>
            </a:xfrm>
            <a:custGeom>
              <a:avLst/>
              <a:gdLst/>
              <a:ahLst/>
              <a:cxnLst/>
              <a:rect l="l" t="t" r="r" b="b"/>
              <a:pathLst>
                <a:path w="952500" h="952500">
                  <a:moveTo>
                    <a:pt x="0" y="476250"/>
                  </a:moveTo>
                  <a:cubicBezTo>
                    <a:pt x="0" y="213233"/>
                    <a:pt x="213233" y="0"/>
                    <a:pt x="476250" y="0"/>
                  </a:cubicBezTo>
                  <a:cubicBezTo>
                    <a:pt x="739267" y="0"/>
                    <a:pt x="952500" y="213233"/>
                    <a:pt x="952500" y="476250"/>
                  </a:cubicBezTo>
                  <a:cubicBezTo>
                    <a:pt x="952500" y="739267"/>
                    <a:pt x="739267" y="952500"/>
                    <a:pt x="476250" y="952500"/>
                  </a:cubicBezTo>
                  <a:cubicBezTo>
                    <a:pt x="213233" y="952500"/>
                    <a:pt x="0" y="739267"/>
                    <a:pt x="0" y="476250"/>
                  </a:cubicBezTo>
                  <a:close/>
                </a:path>
              </a:pathLst>
            </a:custGeom>
            <a:solidFill>
              <a:srgbClr val="F1ECFA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952500" cy="962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5"/>
                </a:lnSpc>
              </a:pPr>
              <a:r>
                <a:rPr lang="en-US" sz="2362" b="1">
                  <a:solidFill>
                    <a:srgbClr val="8C6FD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4772025" y="3295650"/>
            <a:ext cx="3571875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 b="1">
                <a:solidFill>
                  <a:srgbClr val="8C6FD1"/>
                </a:solidFill>
                <a:latin typeface="Arial Bold"/>
                <a:ea typeface="Arial Bold"/>
                <a:cs typeface="Arial Bold"/>
                <a:sym typeface="Arial Bold"/>
              </a:rPr>
              <a:t>Calibrate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772025" y="3981450"/>
            <a:ext cx="3571875" cy="187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2025">
                <a:solidFill>
                  <a:srgbClr val="5D6674"/>
                </a:solidFill>
                <a:latin typeface="Arial"/>
                <a:ea typeface="Arial"/>
                <a:cs typeface="Arial"/>
                <a:sym typeface="Arial"/>
              </a:rPr>
              <a:t>Estimate stress, peer and risk effects from earlier semesters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8943975" y="2314575"/>
            <a:ext cx="714375" cy="714375"/>
            <a:chOff x="0" y="0"/>
            <a:chExt cx="952500" cy="9525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52500" cy="952500"/>
            </a:xfrm>
            <a:custGeom>
              <a:avLst/>
              <a:gdLst/>
              <a:ahLst/>
              <a:cxnLst/>
              <a:rect l="l" t="t" r="r" b="b"/>
              <a:pathLst>
                <a:path w="952500" h="952500">
                  <a:moveTo>
                    <a:pt x="0" y="476250"/>
                  </a:moveTo>
                  <a:cubicBezTo>
                    <a:pt x="0" y="213233"/>
                    <a:pt x="213233" y="0"/>
                    <a:pt x="476250" y="0"/>
                  </a:cubicBezTo>
                  <a:cubicBezTo>
                    <a:pt x="739267" y="0"/>
                    <a:pt x="952500" y="213233"/>
                    <a:pt x="952500" y="476250"/>
                  </a:cubicBezTo>
                  <a:cubicBezTo>
                    <a:pt x="952500" y="739267"/>
                    <a:pt x="739267" y="952500"/>
                    <a:pt x="476250" y="952500"/>
                  </a:cubicBezTo>
                  <a:cubicBezTo>
                    <a:pt x="213233" y="952500"/>
                    <a:pt x="0" y="739267"/>
                    <a:pt x="0" y="476250"/>
                  </a:cubicBezTo>
                  <a:close/>
                </a:path>
              </a:pathLst>
            </a:custGeom>
            <a:solidFill>
              <a:srgbClr val="E3F3EA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952500" cy="962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5"/>
                </a:lnSpc>
              </a:pPr>
              <a:r>
                <a:rPr lang="en-US" sz="2362" b="1">
                  <a:solidFill>
                    <a:srgbClr val="51A7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8943975" y="3295650"/>
            <a:ext cx="3571875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 b="1">
                <a:solidFill>
                  <a:srgbClr val="51A77A"/>
                </a:solidFill>
                <a:latin typeface="Arial Bold"/>
                <a:ea typeface="Arial Bold"/>
                <a:cs typeface="Arial Bold"/>
                <a:sym typeface="Arial Bold"/>
              </a:rPr>
              <a:t>Validate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943975" y="3981450"/>
            <a:ext cx="3571875" cy="187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2025">
                <a:solidFill>
                  <a:srgbClr val="5D6674"/>
                </a:solidFill>
                <a:latin typeface="Arial"/>
                <a:ea typeface="Arial"/>
                <a:cs typeface="Arial"/>
                <a:sym typeface="Arial"/>
              </a:rPr>
              <a:t>Test on a later semester or a different programme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3115925" y="2314575"/>
            <a:ext cx="714375" cy="714375"/>
            <a:chOff x="0" y="0"/>
            <a:chExt cx="952500" cy="9525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52500" cy="952500"/>
            </a:xfrm>
            <a:custGeom>
              <a:avLst/>
              <a:gdLst/>
              <a:ahLst/>
              <a:cxnLst/>
              <a:rect l="l" t="t" r="r" b="b"/>
              <a:pathLst>
                <a:path w="952500" h="952500">
                  <a:moveTo>
                    <a:pt x="0" y="476250"/>
                  </a:moveTo>
                  <a:cubicBezTo>
                    <a:pt x="0" y="213233"/>
                    <a:pt x="213233" y="0"/>
                    <a:pt x="476250" y="0"/>
                  </a:cubicBezTo>
                  <a:cubicBezTo>
                    <a:pt x="739267" y="0"/>
                    <a:pt x="952500" y="213233"/>
                    <a:pt x="952500" y="476250"/>
                  </a:cubicBezTo>
                  <a:cubicBezTo>
                    <a:pt x="952500" y="739267"/>
                    <a:pt x="739267" y="952500"/>
                    <a:pt x="476250" y="952500"/>
                  </a:cubicBezTo>
                  <a:cubicBezTo>
                    <a:pt x="213233" y="952500"/>
                    <a:pt x="0" y="739267"/>
                    <a:pt x="0" y="476250"/>
                  </a:cubicBezTo>
                  <a:close/>
                </a:path>
              </a:pathLst>
            </a:custGeom>
            <a:solidFill>
              <a:srgbClr val="FFF4D8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952500" cy="962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5"/>
                </a:lnSpc>
              </a:pPr>
              <a:r>
                <a:rPr lang="en-US" sz="2362" b="1">
                  <a:solidFill>
                    <a:srgbClr val="10182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3115925" y="3295650"/>
            <a:ext cx="3571875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 b="1">
                <a:solidFill>
                  <a:srgbClr val="101828"/>
                </a:solidFill>
                <a:latin typeface="Arial Bold"/>
                <a:ea typeface="Arial Bold"/>
                <a:cs typeface="Arial Bold"/>
                <a:sym typeface="Arial Bold"/>
              </a:rPr>
              <a:t>Stress-test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115925" y="3981450"/>
            <a:ext cx="3571875" cy="187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2025">
                <a:solidFill>
                  <a:srgbClr val="5D6674"/>
                </a:solidFill>
                <a:latin typeface="Arial"/>
                <a:ea typeface="Arial"/>
                <a:cs typeface="Arial"/>
                <a:sym typeface="Arial"/>
              </a:rPr>
              <a:t>Change assumptions and show uncertainty</a:t>
            </a:r>
          </a:p>
        </p:txBody>
      </p:sp>
      <p:sp>
        <p:nvSpPr>
          <p:cNvPr id="25" name="AutoShape 25"/>
          <p:cNvSpPr/>
          <p:nvPr/>
        </p:nvSpPr>
        <p:spPr>
          <a:xfrm rot="2940">
            <a:off x="592931" y="6410325"/>
            <a:ext cx="16659235" cy="0"/>
          </a:xfrm>
          <a:prstGeom prst="line">
            <a:avLst/>
          </a:prstGeom>
          <a:ln w="9525" cap="rnd">
            <a:solidFill>
              <a:srgbClr val="B8BCC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/>
          <p:cNvSpPr txBox="1"/>
          <p:nvPr/>
        </p:nvSpPr>
        <p:spPr>
          <a:xfrm>
            <a:off x="600075" y="6867525"/>
            <a:ext cx="3429000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812" b="1">
                <a:solidFill>
                  <a:srgbClr val="EF766B"/>
                </a:solidFill>
                <a:latin typeface="Arial Bold"/>
                <a:ea typeface="Arial Bold"/>
                <a:cs typeface="Arial Bold"/>
                <a:sym typeface="Arial Bold"/>
              </a:rPr>
              <a:t>Ethical rules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00075" y="7472362"/>
            <a:ext cx="16002000" cy="1633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6"/>
              </a:lnSpc>
            </a:pPr>
            <a:r>
              <a:rPr lang="en-US" sz="2137" dirty="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Use anonymous and aggregated data. Do not label an individual as a likely cheater.</a:t>
            </a:r>
          </a:p>
          <a:p>
            <a:pPr algn="l">
              <a:lnSpc>
                <a:spcPts val="2616"/>
              </a:lnSpc>
            </a:pPr>
            <a:r>
              <a:rPr lang="en-US" sz="2137" dirty="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Model prevention, not breach methods. Keep unauthorized action as an abstract state.</a:t>
            </a:r>
          </a:p>
          <a:p>
            <a:pPr algn="l">
              <a:lnSpc>
                <a:spcPts val="2616"/>
              </a:lnSpc>
            </a:pPr>
            <a:r>
              <a:rPr lang="en-US" sz="2137" dirty="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Check fairness. Compare effects across groups and report bias or uncertainty.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1313</Words>
  <Application>Microsoft Office PowerPoint</Application>
  <PresentationFormat>Custom</PresentationFormat>
  <Paragraphs>284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ABM_COVID_to_Academic_Integrity_Discussion (1).pptx</dc:title>
  <cp:lastModifiedBy>TSG</cp:lastModifiedBy>
  <cp:revision>6</cp:revision>
  <dcterms:created xsi:type="dcterms:W3CDTF">2006-08-16T00:00:00Z</dcterms:created>
  <dcterms:modified xsi:type="dcterms:W3CDTF">2026-08-06T03:49:28Z</dcterms:modified>
  <dc:identifier>DAHRcugeRiM</dc:identifier>
</cp:coreProperties>
</file>